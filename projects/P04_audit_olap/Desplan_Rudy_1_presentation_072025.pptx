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74" r:id="rId6"/>
    <p:sldId id="275" r:id="rId7"/>
    <p:sldId id="272" r:id="rId8"/>
    <p:sldId id="261" r:id="rId9"/>
    <p:sldId id="262" r:id="rId10"/>
    <p:sldId id="263" r:id="rId11"/>
    <p:sldId id="264" r:id="rId12"/>
    <p:sldId id="273" r:id="rId13"/>
    <p:sldId id="265" r:id="rId14"/>
    <p:sldId id="266" r:id="rId15"/>
    <p:sldId id="267" r:id="rId16"/>
    <p:sldId id="268" r:id="rId17"/>
    <p:sldId id="269" r:id="rId18"/>
    <p:sldId id="276" r:id="rId19"/>
    <p:sldId id="270" r:id="rId20"/>
    <p:sldId id="271" r:id="rId21"/>
  </p:sldIdLst>
  <p:sldSz cx="9144000" cy="5143500" type="screen16x9"/>
  <p:notesSz cx="6858000" cy="9144000"/>
  <p:embeddedFontLst>
    <p:embeddedFont>
      <p:font typeface="Inter" panose="02000503000000020004" pitchFamily="2" charset="0"/>
      <p:regular r:id="rId23"/>
      <p:bold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Montserrat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fd6a1a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fd6a1ad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adf635cc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adf635cc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955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247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349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d948d0ee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d948d0ee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45a1bb278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45a1bb278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45a1bb27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45a1bb27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45a1bb27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45a1bb27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fd6a1ad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fd6a1ad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adf635cc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adf635ccc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fd6a1ad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fd6a1ad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adf635ccc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adf635ccc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fd6a1ad4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efd6a1ad4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adf635ccc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adf635ccc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AUDIT : </a:t>
            </a:r>
            <a:br>
              <a:rPr lang="fr"/>
            </a:br>
            <a:r>
              <a:rPr lang="fr"/>
              <a:t>Erreur sur le Cube OLAP 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6750" y="3514725"/>
            <a:ext cx="17335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207700"/>
            <a:ext cx="7038900" cy="616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Présentation de la mission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241778"/>
            <a:ext cx="7038900" cy="3694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🎯 </a:t>
            </a:r>
            <a:r>
              <a:rPr lang="fr-FR" b="1" dirty="0"/>
              <a:t>Objectif</a:t>
            </a:r>
            <a:br>
              <a:rPr lang="fr-FR" dirty="0"/>
            </a:br>
            <a:r>
              <a:rPr lang="fr-FR" dirty="0"/>
              <a:t>Identifier les causes d’</a:t>
            </a:r>
            <a:r>
              <a:rPr lang="fr-FR" b="1" dirty="0"/>
              <a:t>incohérences du chiffre d’affaires</a:t>
            </a:r>
            <a:r>
              <a:rPr lang="fr-FR" dirty="0"/>
              <a:t> dans </a:t>
            </a:r>
            <a:r>
              <a:rPr lang="fr-FR" dirty="0" err="1"/>
              <a:t>PowerBI</a:t>
            </a:r>
            <a:r>
              <a:rPr lang="fr-FR" dirty="0"/>
              <a:t> et proposer une solution fiable à travers un </a:t>
            </a:r>
            <a:r>
              <a:rPr lang="fr-FR" b="1" dirty="0"/>
              <a:t>prototypage local</a:t>
            </a:r>
            <a:r>
              <a:rPr lang="fr-FR" dirty="0"/>
              <a:t> (POC).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Analyse de l’architecture fournie (schéma joint en annexe)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Création d’un dictionnaire des données 📖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Modélisation d’un schéma relationnel 🧩 basé sur la base OLAP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Implémentation d’un POC (base SQLite/PostgreSQL) pour tester les requêtes SQL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Validation des indicateurs clés !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Architecture de l’entreprise</a:t>
            </a:r>
            <a:endParaRPr sz="1888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8BCE2-3846-5370-4542-BC82E2032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68" y="2162174"/>
            <a:ext cx="7867781" cy="1879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2381232" y="0"/>
            <a:ext cx="5870946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de la base de données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 dirty="0"/>
              <a:t>Extrait du dictionnaire des données du fichier OLAP</a:t>
            </a:r>
            <a:endParaRPr sz="1888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5C327A-F35B-7C68-7799-83C7A77A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597" y="755543"/>
            <a:ext cx="5734850" cy="1562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6DE8F0-EE7F-402F-B99E-9AB34C9D7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77902"/>
            <a:ext cx="4048690" cy="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07328-98D1-D6FD-9D14-FB324428A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597" y="3257287"/>
            <a:ext cx="6096851" cy="1886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2381232" y="0"/>
            <a:ext cx="5870946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de la base de données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 dirty="0"/>
              <a:t>Extrait du dictionnaire des données du fichier OLAP</a:t>
            </a:r>
            <a:endParaRPr sz="1888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DE107-82F1-3328-1DA6-24374D6F0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6" y="1211815"/>
            <a:ext cx="4810796" cy="2200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828DDC-1537-A5A6-01FE-B2AA7F4B1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936" y="3376414"/>
            <a:ext cx="4058216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29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2381232" y="0"/>
            <a:ext cx="5870946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de la base de données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 dirty="0"/>
              <a:t>Extrait du dictionnaire des données du fichier LOG</a:t>
            </a:r>
            <a:endParaRPr sz="1888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E2201F-3E25-7220-738F-CCF6FA739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469" y="1253067"/>
            <a:ext cx="7140859" cy="34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0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052550" y="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de la base de données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 dirty="0"/>
              <a:t>Schéma relationnel</a:t>
            </a:r>
            <a:endParaRPr sz="1888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6467B-E2CB-2E7F-ED9E-D29489BC5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8549"/>
            <a:ext cx="4515556" cy="465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4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-1361"/>
            <a:ext cx="7038900" cy="746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Présentation du prototype de BDD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Base de Données Relationnelle – POC </a:t>
            </a:r>
            <a:r>
              <a:rPr lang="fr-FR" sz="1600" dirty="0" err="1"/>
              <a:t>DuckDB</a:t>
            </a:r>
            <a:br>
              <a:rPr lang="fr" sz="1888" dirty="0"/>
            </a:br>
            <a:endParaRPr sz="1888" dirty="0"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745067"/>
            <a:ext cx="7038900" cy="42869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fr-FR" b="1" dirty="0"/>
              <a:t>🗂️ Modèle en étoile (Star </a:t>
            </a:r>
            <a:r>
              <a:rPr lang="fr-FR" b="1" dirty="0" err="1"/>
              <a:t>Schema</a:t>
            </a:r>
            <a:r>
              <a:rPr lang="fr-FR" b="1" dirty="0"/>
              <a:t>)</a:t>
            </a:r>
          </a:p>
          <a:p>
            <a:r>
              <a:rPr lang="fr-FR" dirty="0"/>
              <a:t>Optimisé pour l’analyse OLAP, intégrant des dimensions clés et une </a:t>
            </a:r>
            <a:r>
              <a:rPr lang="fr-FR" dirty="0" err="1"/>
              <a:t>fact</a:t>
            </a:r>
            <a:r>
              <a:rPr lang="fr-FR" dirty="0"/>
              <a:t> table centrale :</a:t>
            </a:r>
          </a:p>
          <a:p>
            <a:endParaRPr lang="fr-FR" dirty="0"/>
          </a:p>
          <a:p>
            <a:r>
              <a:rPr lang="fr-FR" dirty="0"/>
              <a:t>📊 Table </a:t>
            </a:r>
            <a:r>
              <a:rPr lang="fr-FR" dirty="0" err="1"/>
              <a:t>centralevente_detail</a:t>
            </a:r>
            <a:r>
              <a:rPr lang="fr-FR" dirty="0"/>
              <a:t>→ Table de faits contenant les transactions🔗 Liens vers : clients, </a:t>
            </a:r>
            <a:r>
              <a:rPr lang="fr-FR" dirty="0" err="1"/>
              <a:t>employe</a:t>
            </a:r>
            <a:r>
              <a:rPr lang="fr-FR" dirty="0"/>
              <a:t>, produits, calendrier</a:t>
            </a:r>
          </a:p>
          <a:p>
            <a:endParaRPr lang="fr-FR" dirty="0"/>
          </a:p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r>
              <a:rPr lang="fr-FR" dirty="0"/>
              <a:t>🧭 Dimensions</a:t>
            </a:r>
          </a:p>
          <a:p>
            <a:pPr marL="171450" marR="15240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None/>
            </a:pPr>
            <a:r>
              <a:rPr lang="fr-FR" dirty="0"/>
              <a:t>Clients : </a:t>
            </a:r>
            <a:r>
              <a:rPr lang="fr-FR" dirty="0" err="1"/>
              <a:t>customer_id</a:t>
            </a:r>
            <a:r>
              <a:rPr lang="fr-FR" dirty="0"/>
              <a:t>, date d’inscription (référence vers calendrier)</a:t>
            </a:r>
          </a:p>
          <a:p>
            <a:pPr marL="171450" marR="15240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None/>
            </a:pPr>
            <a:r>
              <a:rPr lang="fr-FR" dirty="0" err="1"/>
              <a:t>Employe</a:t>
            </a:r>
            <a:r>
              <a:rPr lang="fr-FR" dirty="0"/>
              <a:t> : </a:t>
            </a:r>
            <a:r>
              <a:rPr lang="fr-FR" dirty="0" err="1"/>
              <a:t>id_employe</a:t>
            </a:r>
            <a:r>
              <a:rPr lang="fr-FR" dirty="0"/>
              <a:t>, nom, prénom, date début (référence vers calendrier)</a:t>
            </a:r>
          </a:p>
          <a:p>
            <a:pPr marL="171450" marR="15240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None/>
            </a:pPr>
            <a:r>
              <a:rPr lang="fr-FR" dirty="0"/>
              <a:t>Produits : </a:t>
            </a:r>
            <a:r>
              <a:rPr lang="fr-FR" dirty="0" err="1"/>
              <a:t>ean</a:t>
            </a:r>
            <a:r>
              <a:rPr lang="fr-FR" dirty="0"/>
              <a:t>, catégorie, rayon, libellé, prix</a:t>
            </a:r>
          </a:p>
          <a:p>
            <a:pPr marL="171450" marR="15240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None/>
            </a:pPr>
            <a:r>
              <a:rPr lang="fr-FR" dirty="0"/>
              <a:t>Calendrier: date, </a:t>
            </a:r>
            <a:r>
              <a:rPr lang="fr-FR" dirty="0" err="1"/>
              <a:t>annee</a:t>
            </a:r>
            <a:r>
              <a:rPr lang="fr-FR" dirty="0"/>
              <a:t>, mois, jour, trimestre, etc.</a:t>
            </a:r>
          </a:p>
          <a:p>
            <a:pPr marL="171450" marR="15240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None/>
            </a:pPr>
            <a:endParaRPr lang="fr-FR" dirty="0"/>
          </a:p>
          <a:p>
            <a:pPr marL="171450" marR="15240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None/>
            </a:pPr>
            <a:r>
              <a:rPr lang="fr-FR" dirty="0"/>
              <a:t>🔐 </a:t>
            </a:r>
            <a:r>
              <a:rPr lang="fr-FR" b="1" dirty="0"/>
              <a:t>Intégrité &amp; Contraintes – Qualité et Cohérence des Données</a:t>
            </a:r>
          </a:p>
          <a:p>
            <a:pPr marL="171450" marR="15240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None/>
            </a:pPr>
            <a:r>
              <a:rPr lang="fr-FR" dirty="0"/>
              <a:t>✅ </a:t>
            </a:r>
            <a:r>
              <a:rPr lang="fr-FR" b="1" dirty="0"/>
              <a:t>1. Clés primaires &amp; séquences automatiques (</a:t>
            </a:r>
            <a:r>
              <a:rPr lang="fr-FR" b="1" dirty="0" err="1"/>
              <a:t>Surrogate</a:t>
            </a:r>
            <a:r>
              <a:rPr lang="fr-FR" b="1" dirty="0"/>
              <a:t> Keys) :</a:t>
            </a:r>
            <a:br>
              <a:rPr lang="fr-FR" b="1" dirty="0"/>
            </a:br>
            <a:r>
              <a:rPr lang="fr-FR" b="1" dirty="0"/>
              <a:t>Chaque table de dimension (produits, clients, </a:t>
            </a:r>
            <a:r>
              <a:rPr lang="fr-FR" b="1" dirty="0" err="1"/>
              <a:t>employe</a:t>
            </a:r>
            <a:r>
              <a:rPr lang="fr-FR" b="1" dirty="0"/>
              <a:t>, calendrier) utilise une clé primaire générée automatiquement (*_SK) via une </a:t>
            </a:r>
            <a:r>
              <a:rPr lang="fr-FR" b="1" dirty="0" err="1"/>
              <a:t>sequence</a:t>
            </a:r>
            <a:r>
              <a:rPr lang="fr-FR" b="1" dirty="0"/>
              <a:t> SQL . </a:t>
            </a:r>
            <a:br>
              <a:rPr lang="fr-FR" b="1" dirty="0"/>
            </a:br>
            <a:r>
              <a:rPr lang="fr-FR" dirty="0"/>
              <a:t>Ces </a:t>
            </a:r>
            <a:r>
              <a:rPr lang="fr-FR" b="1" dirty="0" err="1"/>
              <a:t>surrogate</a:t>
            </a:r>
            <a:r>
              <a:rPr lang="fr-FR" b="1" dirty="0"/>
              <a:t> keys</a:t>
            </a:r>
            <a:r>
              <a:rPr lang="fr-FR" dirty="0"/>
              <a:t> sont des identifiants arbitraires, sans signification métier directe, </a:t>
            </a:r>
            <a:r>
              <a:rPr lang="fr-FR" b="1" dirty="0"/>
              <a:t>indispensables en entrepôt de données</a:t>
            </a:r>
            <a:br>
              <a:rPr lang="fr-FR" b="1" dirty="0"/>
            </a:br>
            <a:r>
              <a:rPr lang="fr-FR" dirty="0"/>
              <a:t>✅ </a:t>
            </a:r>
            <a:r>
              <a:rPr lang="fr-FR" b="1" dirty="0"/>
              <a:t>2. Clés étrangères et relations référentielles : </a:t>
            </a:r>
            <a:br>
              <a:rPr lang="fr-FR" b="1" dirty="0"/>
            </a:br>
            <a:r>
              <a:rPr lang="fr-FR" b="1" dirty="0"/>
              <a:t>Chaque table de faits (</a:t>
            </a:r>
            <a:r>
              <a:rPr lang="fr-FR" b="1" dirty="0" err="1"/>
              <a:t>vente_detail</a:t>
            </a:r>
            <a:r>
              <a:rPr lang="fr-FR" b="1" dirty="0"/>
              <a:t>) référence ses dimensions via des clés étrangères :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Le chiffre d’affaires total pour le 14 Août</a:t>
            </a:r>
            <a:endParaRPr sz="1888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BA788-DCDF-64CB-EB91-77077CBAD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023" y="1384756"/>
            <a:ext cx="3781953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5342C1-6494-BD8B-493F-5E90BA620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997" y="3258902"/>
            <a:ext cx="2896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100239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Résultat des requêtes SQL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 dirty="0"/>
              <a:t>Le chiffre d’affaires par client pour le top 10 des clients</a:t>
            </a:r>
            <a:endParaRPr sz="1888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AEDA1B-A9AB-E5A8-0FE9-9ED4CECEF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5600"/>
            <a:ext cx="4730365" cy="2370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D8419F-FD02-562B-32D6-45DCA6B36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878" y="1625600"/>
            <a:ext cx="4308122" cy="237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dirty="0"/>
              <a:t>Résultat des requêtes SQL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850" dirty="0"/>
              <a:t>Le chiffre d’affaires encaissé par employé</a:t>
            </a:r>
            <a:endParaRPr sz="18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78F2B-3B1E-7DCE-74FC-269E34BBD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100"/>
            <a:ext cx="9144000" cy="2133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CC5355-FF15-C8B4-231A-DD7B311A1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68467"/>
            <a:ext cx="4425645" cy="3975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D326E-87D3-DA7A-C89E-08218938C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45" y="1049867"/>
            <a:ext cx="4594894" cy="4093633"/>
          </a:xfrm>
          <a:prstGeom prst="rect">
            <a:avLst/>
          </a:prstGeom>
        </p:spPr>
      </p:pic>
      <p:sp>
        <p:nvSpPr>
          <p:cNvPr id="8" name="Google Shape;183;p21">
            <a:extLst>
              <a:ext uri="{FF2B5EF4-FFF2-40B4-BE49-F238E27FC236}">
                <a16:creationId xmlns:a16="http://schemas.microsoft.com/office/drawing/2014/main" id="{385C5DC3-723B-5FE5-727D-350E25FF8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dirty="0"/>
              <a:t>Résultat des requêtes SQL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850" dirty="0"/>
              <a:t>Le chiffre d’affaires encaissé par employé</a:t>
            </a:r>
            <a:endParaRPr sz="18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9665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des logs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Dictionnaire des données et explications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827397-993A-3AA8-96A9-28F58C0E4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568759"/>
              </p:ext>
            </p:extLst>
          </p:nvPr>
        </p:nvGraphicFramePr>
        <p:xfrm>
          <a:off x="564444" y="1344294"/>
          <a:ext cx="7817556" cy="2318255"/>
        </p:xfrm>
        <a:graphic>
          <a:graphicData uri="http://schemas.openxmlformats.org/drawingml/2006/table">
            <a:tbl>
              <a:tblPr/>
              <a:tblGrid>
                <a:gridCol w="2605852">
                  <a:extLst>
                    <a:ext uri="{9D8B030D-6E8A-4147-A177-3AD203B41FA5}">
                      <a16:colId xmlns:a16="http://schemas.microsoft.com/office/drawing/2014/main" val="905580919"/>
                    </a:ext>
                  </a:extLst>
                </a:gridCol>
                <a:gridCol w="2605852">
                  <a:extLst>
                    <a:ext uri="{9D8B030D-6E8A-4147-A177-3AD203B41FA5}">
                      <a16:colId xmlns:a16="http://schemas.microsoft.com/office/drawing/2014/main" val="52348551"/>
                    </a:ext>
                  </a:extLst>
                </a:gridCol>
                <a:gridCol w="2605852">
                  <a:extLst>
                    <a:ext uri="{9D8B030D-6E8A-4147-A177-3AD203B41FA5}">
                      <a16:colId xmlns:a16="http://schemas.microsoft.com/office/drawing/2014/main" val="2153904537"/>
                    </a:ext>
                  </a:extLst>
                </a:gridCol>
              </a:tblGrid>
              <a:tr h="355447">
                <a:tc>
                  <a:txBody>
                    <a:bodyPr/>
                    <a:lstStyle/>
                    <a:p>
                      <a:r>
                        <a:rPr lang="fr-FR" b="1">
                          <a:effectLst/>
                        </a:rPr>
                        <a:t>Action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>
                          <a:effectLst/>
                        </a:rPr>
                        <a:t>Table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>
                          <a:effectLst/>
                        </a:rPr>
                        <a:t>Nombre d'opérations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98140"/>
                  </a:ext>
                </a:extLst>
              </a:tr>
              <a:tr h="355447"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INSERT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Ventes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39998 in 14/08     and               1379 in 15/09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87994"/>
                  </a:ext>
                </a:extLst>
              </a:tr>
              <a:tr h="355447"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UPDATE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Produits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575 : 439 OK et 136 KO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90520"/>
                  </a:ext>
                </a:extLst>
              </a:tr>
              <a:tr h="355447">
                <a:tc>
                  <a:txBody>
                    <a:bodyPr/>
                    <a:lstStyle/>
                    <a:p>
                      <a:r>
                        <a:rPr lang="fr-FR" dirty="0">
                          <a:effectLst/>
                        </a:rPr>
                        <a:t>INSERT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Client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20 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398542"/>
                  </a:ext>
                </a:extLst>
              </a:tr>
              <a:tr h="355447">
                <a:tc>
                  <a:txBody>
                    <a:bodyPr/>
                    <a:lstStyle/>
                    <a:p>
                      <a:r>
                        <a:rPr lang="fr-FR" dirty="0">
                          <a:effectLst/>
                        </a:rPr>
                        <a:t>UPDATE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Employé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effectLst/>
                        </a:rPr>
                        <a:t>7 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90503"/>
                  </a:ext>
                </a:extLst>
              </a:tr>
              <a:tr h="355447"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DELETE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Employé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4275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F90FF86-381C-94A3-DBE0-A169E3B4F4C4}"/>
              </a:ext>
            </a:extLst>
          </p:cNvPr>
          <p:cNvSpPr txBox="1"/>
          <p:nvPr/>
        </p:nvSpPr>
        <p:spPr>
          <a:xfrm>
            <a:off x="762000" y="3759200"/>
            <a:ext cx="781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Un seul utilisateur ( 08c8b678f8e6f0caz05880ef4ebba10az ) est à l’origine de la totalité des insertions dans `Ventes`, et des updates sur `Produits` et `Employé`.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Compréhension des problèmes sur la base des logs</a:t>
            </a: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- 575 mises à jour ont été observées, portant exclusivement sur le champ `prix`.</a:t>
            </a:r>
            <a:br>
              <a:rPr lang="fr-FR" dirty="0"/>
            </a:br>
            <a:br>
              <a:rPr lang="fr-FR" dirty="0"/>
            </a:br>
            <a:r>
              <a:rPr lang="fr-FR" dirty="0"/>
              <a:t>Mais dans 136  lignes, on a des valeurs ambiguës  qui ressemblent à :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dirty="0"/>
              <a:t>Des dates jj/mm/2024 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Lors de l’insertion dans la table Produits, en fonction du processus utilisé une erreur peut se faire donc au niveau de la colonne prix 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dirty="0"/>
              <a:t>41377 ventes complètes, réparties sur deux jours :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dirty="0"/>
              <a:t>39998 ventes insérées le 14 août 2024 (date = 45518)  et 1379 ventes insérées le 15 août 2024 (date = 45519) qui est un jour férié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endParaRPr/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fr" sz="1850"/>
              <a:t>Actions à mettre en place </a:t>
            </a:r>
            <a:endParaRPr sz="1850"/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fr" sz="1850"/>
              <a:t>Prototype </a:t>
            </a:r>
            <a:endParaRPr sz="18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77768-6FE0-F4C1-5EF6-7FC1B5C285F3}"/>
              </a:ext>
            </a:extLst>
          </p:cNvPr>
          <p:cNvSpPr txBox="1"/>
          <p:nvPr/>
        </p:nvSpPr>
        <p:spPr>
          <a:xfrm>
            <a:off x="124177" y="1761067"/>
            <a:ext cx="88843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</a:rPr>
              <a:t>Valider et typer les données dès ingestion, notamment les colonnes sensibles (prix).</a:t>
            </a:r>
          </a:p>
          <a:p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dirty="0">
                <a:solidFill>
                  <a:schemeClr val="bg1"/>
                </a:solidFill>
              </a:rPr>
              <a:t>Logger avec granularité : horodatage réel, ID d’utilisateur clair, ID opération si possible.</a:t>
            </a:r>
          </a:p>
          <a:p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dirty="0">
                <a:solidFill>
                  <a:schemeClr val="bg1"/>
                </a:solidFill>
              </a:rPr>
              <a:t>Implémenter une base OLAP intermédiaire (POC réalisé avec </a:t>
            </a:r>
            <a:r>
              <a:rPr lang="fr-FR" sz="1800" dirty="0" err="1">
                <a:solidFill>
                  <a:schemeClr val="bg1"/>
                </a:solidFill>
              </a:rPr>
              <a:t>DuckDB</a:t>
            </a:r>
            <a:r>
              <a:rPr lang="fr-FR" sz="1800" dirty="0">
                <a:solidFill>
                  <a:schemeClr val="bg1"/>
                </a:solidFill>
              </a:rPr>
              <a:t>).</a:t>
            </a:r>
          </a:p>
          <a:p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dirty="0">
                <a:solidFill>
                  <a:schemeClr val="bg1"/>
                </a:solidFill>
              </a:rPr>
              <a:t>Séparation claire des actions par table : création de 4 tables de logs dédiées.</a:t>
            </a:r>
          </a:p>
          <a:p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dirty="0">
                <a:solidFill>
                  <a:schemeClr val="bg1"/>
                </a:solidFill>
              </a:rPr>
              <a:t>Ajout de tests automatiques de cohérence lors des opérations massives.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1234550" y="635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Recommandations pour l’entreprise</a:t>
            </a:r>
            <a:br>
              <a:rPr lang="fr" dirty="0"/>
            </a:br>
            <a:r>
              <a:rPr lang="fr" sz="1850" dirty="0"/>
              <a:t>Avantages et inconvénients de la solution</a:t>
            </a:r>
            <a:endParaRPr sz="1850" dirty="0"/>
          </a:p>
        </p:txBody>
      </p:sp>
      <p:sp>
        <p:nvSpPr>
          <p:cNvPr id="206" name="Google Shape;206;p25"/>
          <p:cNvSpPr txBox="1">
            <a:spLocks noGrp="1"/>
          </p:cNvSpPr>
          <p:nvPr>
            <p:ph type="body" idx="1"/>
          </p:nvPr>
        </p:nvSpPr>
        <p:spPr>
          <a:xfrm>
            <a:off x="1234550" y="880534"/>
            <a:ext cx="7038900" cy="41994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Avantages :</a:t>
            </a:r>
            <a:br>
              <a:rPr lang="fr" dirty="0"/>
            </a:b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FR" dirty="0"/>
              <a:t>Validation claire des données dès insertion.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FR" dirty="0"/>
              <a:t>Rétablissement du chiffre d’affaires exact vs valeurs manquantes non comptabilisées.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FR" dirty="0"/>
              <a:t>Sécurisation du pipeline de données.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FR" dirty="0"/>
              <a:t>Possibilité d’audit a posteriori par utilisateur.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" dirty="0"/>
              <a:t>Inconvénients :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dirty="0"/>
              <a:t>Charge initiale pour refactoriser le système de logs.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dirty="0"/>
              <a:t>Maintenance supplémentaire des séquences et des types de données.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dirty="0"/>
              <a:t>Risque de rejet d’insertions si validation trop stricte sans </a:t>
            </a:r>
            <a:r>
              <a:rPr lang="fr-FR" dirty="0" err="1"/>
              <a:t>fallback</a:t>
            </a:r>
            <a:r>
              <a:rPr lang="fr-F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>
            <a:spLocks noGrp="1"/>
          </p:cNvSpPr>
          <p:nvPr>
            <p:ph type="title"/>
          </p:nvPr>
        </p:nvSpPr>
        <p:spPr>
          <a:xfrm>
            <a:off x="1252344" y="111528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bg1"/>
                </a:solidFill>
              </a:rPr>
              <a:t>Recommandations pour l’entreprise</a:t>
            </a:r>
            <a:br>
              <a:rPr lang="fr" dirty="0">
                <a:solidFill>
                  <a:schemeClr val="bg1"/>
                </a:solidFill>
              </a:rPr>
            </a:br>
            <a:r>
              <a:rPr lang="fr" sz="1850" dirty="0">
                <a:solidFill>
                  <a:schemeClr val="bg1"/>
                </a:solidFill>
              </a:rPr>
              <a:t>Implications pour l’organisation actuelle </a:t>
            </a:r>
            <a:endParaRPr sz="185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811400-4668-9B30-D47F-9DCF9AC8DCB3}"/>
              </a:ext>
            </a:extLst>
          </p:cNvPr>
          <p:cNvSpPr txBox="1"/>
          <p:nvPr/>
        </p:nvSpPr>
        <p:spPr>
          <a:xfrm>
            <a:off x="580794" y="1492542"/>
            <a:ext cx="838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Revue des droits d’écriture : seul un utilisateur a modifié toute la base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  <a:p>
            <a:r>
              <a:rPr lang="fr-FR" dirty="0">
                <a:solidFill>
                  <a:schemeClr val="bg1"/>
                </a:solidFill>
              </a:rPr>
              <a:t>Mettre en place un contrôle d’accès par rôle (RBAC).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Affecter des identifiants distincts aux scripts automatisés,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Renforcement des processus de contrôle sur les opérations critiques </a:t>
            </a:r>
            <a:r>
              <a:rPr lang="fr-FR" dirty="0">
                <a:solidFill>
                  <a:schemeClr val="bg1"/>
                </a:solidFill>
              </a:rPr>
              <a:t>:</a:t>
            </a:r>
          </a:p>
          <a:p>
            <a:r>
              <a:rPr lang="fr-FR" dirty="0">
                <a:solidFill>
                  <a:schemeClr val="bg1"/>
                </a:solidFill>
              </a:rPr>
              <a:t>Mettre en place des workflows de validation métier avant déploiement :</a:t>
            </a:r>
          </a:p>
          <a:p>
            <a:r>
              <a:rPr lang="fr-FR" dirty="0">
                <a:solidFill>
                  <a:schemeClr val="bg1"/>
                </a:solidFill>
              </a:rPr>
              <a:t>Ajouter des tests automatiques en </a:t>
            </a:r>
            <a:r>
              <a:rPr lang="fr-FR" dirty="0" err="1">
                <a:solidFill>
                  <a:schemeClr val="bg1"/>
                </a:solidFill>
              </a:rPr>
              <a:t>pré-production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Intégration d’un pipeline de traitement validant en amont avant toute mise à jour massive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  <a:p>
            <a:r>
              <a:rPr lang="fr-FR" dirty="0">
                <a:solidFill>
                  <a:schemeClr val="bg1"/>
                </a:solidFill>
              </a:rPr>
              <a:t>Créer une zone de </a:t>
            </a:r>
            <a:r>
              <a:rPr lang="fr-FR" dirty="0" err="1">
                <a:solidFill>
                  <a:schemeClr val="bg1"/>
                </a:solidFill>
              </a:rPr>
              <a:t>staging</a:t>
            </a:r>
            <a:r>
              <a:rPr lang="fr-FR" dirty="0">
                <a:solidFill>
                  <a:schemeClr val="bg1"/>
                </a:solidFill>
              </a:rPr>
              <a:t> (tampon) :</a:t>
            </a:r>
          </a:p>
          <a:p>
            <a:r>
              <a:rPr lang="fr-FR" dirty="0">
                <a:solidFill>
                  <a:schemeClr val="bg1"/>
                </a:solidFill>
              </a:rPr>
              <a:t>Seules les données validées sont poussées en base de production.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Monitoring automatique des logs critiques avec seuils d’alerte.</a:t>
            </a:r>
          </a:p>
          <a:p>
            <a:r>
              <a:rPr lang="fr-FR" dirty="0">
                <a:solidFill>
                  <a:schemeClr val="bg1"/>
                </a:solidFill>
              </a:rPr>
              <a:t>Déployer un système de monitoring automatique sur les logs :</a:t>
            </a:r>
          </a:p>
          <a:p>
            <a:r>
              <a:rPr lang="fr-FR" dirty="0">
                <a:solidFill>
                  <a:schemeClr val="bg1"/>
                </a:solidFill>
              </a:rPr>
              <a:t>Définir des seuils critiques par table (volumes, utilisateurs, champs modifiés).</a:t>
            </a:r>
          </a:p>
          <a:p>
            <a:r>
              <a:rPr lang="fr-FR" dirty="0">
                <a:solidFill>
                  <a:schemeClr val="bg1"/>
                </a:solidFill>
              </a:rPr>
              <a:t>Créer des tableaux de bord de logs dynamiques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1F68B-5BAC-7AF2-CC91-5D45010D2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067" y="1467556"/>
            <a:ext cx="8748889" cy="3564416"/>
          </a:xfrm>
        </p:spPr>
        <p:txBody>
          <a:bodyPr/>
          <a:lstStyle/>
          <a:p>
            <a:r>
              <a:rPr lang="fr-FR" dirty="0"/>
              <a:t>On a proposé une solution en local (</a:t>
            </a:r>
            <a:r>
              <a:rPr lang="fr-FR" dirty="0" err="1"/>
              <a:t>DuckDB</a:t>
            </a:r>
            <a:r>
              <a:rPr lang="fr-FR" dirty="0"/>
              <a:t>/PostgreSQL), mais maintenant il seraient mieux de considérer une plateforme OLAP cloud comme </a:t>
            </a:r>
            <a:r>
              <a:rPr lang="fr-FR" dirty="0" err="1"/>
              <a:t>Snowflake</a:t>
            </a:r>
            <a:r>
              <a:rPr lang="fr-FR" dirty="0"/>
              <a:t>.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Il offre du RBAC, </a:t>
            </a:r>
            <a:r>
              <a:rPr lang="fr-FR" dirty="0" err="1"/>
              <a:t>staging</a:t>
            </a:r>
            <a:r>
              <a:rPr lang="fr-FR" dirty="0"/>
              <a:t>, </a:t>
            </a:r>
            <a:r>
              <a:rPr lang="fr-FR" dirty="0" err="1"/>
              <a:t>fallback</a:t>
            </a:r>
            <a:r>
              <a:rPr lang="fr-FR" dirty="0"/>
              <a:t>, triggers-like, journalisation, et une intégration BI fluide, parfaitement alignés avec les recommandations finales d’audit.</a:t>
            </a:r>
          </a:p>
        </p:txBody>
      </p:sp>
      <p:sp>
        <p:nvSpPr>
          <p:cNvPr id="4" name="Google Shape;211;p26">
            <a:extLst>
              <a:ext uri="{FF2B5EF4-FFF2-40B4-BE49-F238E27FC236}">
                <a16:creationId xmlns:a16="http://schemas.microsoft.com/office/drawing/2014/main" id="{1AA91020-B679-2324-6713-F71480DE58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344" y="111528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bg1"/>
                </a:solidFill>
              </a:rPr>
              <a:t>Recommandations pour l’entreprise</a:t>
            </a:r>
            <a:br>
              <a:rPr lang="fr" dirty="0">
                <a:solidFill>
                  <a:schemeClr val="bg1"/>
                </a:solidFill>
              </a:rPr>
            </a:br>
            <a:r>
              <a:rPr lang="fr" sz="1850" dirty="0">
                <a:solidFill>
                  <a:schemeClr val="bg1"/>
                </a:solidFill>
              </a:rPr>
              <a:t>Implications pour l’organisation actuelle </a:t>
            </a:r>
            <a:endParaRPr sz="18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2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xfrm>
            <a:off x="1320078" y="889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Recommandations pour l’entreprise</a:t>
            </a:r>
            <a:br>
              <a:rPr lang="fr" dirty="0"/>
            </a:br>
            <a:r>
              <a:rPr lang="fr" sz="1850" dirty="0"/>
              <a:t>Planning de mise en place et coût éventuel</a:t>
            </a:r>
            <a:endParaRPr sz="18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7BB7A1-7B53-15C0-9B84-153E7BC61C07}"/>
              </a:ext>
            </a:extLst>
          </p:cNvPr>
          <p:cNvSpPr txBox="1"/>
          <p:nvPr/>
        </p:nvSpPr>
        <p:spPr>
          <a:xfrm>
            <a:off x="129822" y="1515120"/>
            <a:ext cx="88843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Étapes proposées :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fr-FR" dirty="0">
                <a:solidFill>
                  <a:schemeClr val="bg1"/>
                </a:solidFill>
              </a:rPr>
              <a:t>📅 </a:t>
            </a:r>
            <a:r>
              <a:rPr lang="fr-FR" b="1" dirty="0">
                <a:solidFill>
                  <a:schemeClr val="bg1"/>
                </a:solidFill>
              </a:rPr>
              <a:t>Audit des droits d’écriture &amp; séparation des rôles – 1 semaine</a:t>
            </a:r>
          </a:p>
          <a:p>
            <a:pPr>
              <a:buFont typeface="+mj-lt"/>
              <a:buAutoNum type="arabicPeriod"/>
            </a:pPr>
            <a:endParaRPr lang="fr-FR" b="1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fr-FR" dirty="0">
                <a:solidFill>
                  <a:schemeClr val="bg1"/>
                </a:solidFill>
              </a:rPr>
              <a:t>🧪 </a:t>
            </a:r>
            <a:r>
              <a:rPr lang="fr-FR" b="1" dirty="0">
                <a:solidFill>
                  <a:schemeClr val="bg1"/>
                </a:solidFill>
              </a:rPr>
              <a:t>Pipeline de validation des données en amont (</a:t>
            </a:r>
            <a:r>
              <a:rPr lang="fr-FR" b="1" dirty="0" err="1">
                <a:solidFill>
                  <a:schemeClr val="bg1"/>
                </a:solidFill>
              </a:rPr>
              <a:t>staging</a:t>
            </a:r>
            <a:r>
              <a:rPr lang="fr-FR" b="1" dirty="0">
                <a:solidFill>
                  <a:schemeClr val="bg1"/>
                </a:solidFill>
              </a:rPr>
              <a:t>) 1-2 semaine</a:t>
            </a:r>
          </a:p>
          <a:p>
            <a:pPr>
              <a:buFont typeface="+mj-lt"/>
              <a:buAutoNum type="arabicPeriod"/>
            </a:pPr>
            <a:endParaRPr lang="fr-FR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fr-FR" dirty="0">
                <a:solidFill>
                  <a:schemeClr val="bg1"/>
                </a:solidFill>
              </a:rPr>
              <a:t>📋 </a:t>
            </a:r>
            <a:r>
              <a:rPr lang="fr-FR" b="1" dirty="0">
                <a:solidFill>
                  <a:schemeClr val="bg1"/>
                </a:solidFill>
              </a:rPr>
              <a:t>Workflows de contrôle pour les opérations critiques</a:t>
            </a:r>
            <a:r>
              <a:rPr lang="fr-FR" dirty="0">
                <a:solidFill>
                  <a:schemeClr val="bg1"/>
                </a:solidFill>
              </a:rPr>
              <a:t> – </a:t>
            </a:r>
            <a:r>
              <a:rPr lang="fr-FR" b="1" dirty="0">
                <a:solidFill>
                  <a:schemeClr val="bg1"/>
                </a:solidFill>
              </a:rPr>
              <a:t>1 semaine</a:t>
            </a:r>
          </a:p>
          <a:p>
            <a:pPr>
              <a:buFont typeface="+mj-lt"/>
              <a:buAutoNum type="arabicPeriod"/>
            </a:pPr>
            <a:endParaRPr lang="fr-FR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fr-FR" dirty="0">
                <a:solidFill>
                  <a:schemeClr val="bg1"/>
                </a:solidFill>
              </a:rPr>
              <a:t>⚙️ </a:t>
            </a:r>
            <a:r>
              <a:rPr lang="fr-FR" b="1" dirty="0">
                <a:solidFill>
                  <a:schemeClr val="bg1"/>
                </a:solidFill>
              </a:rPr>
              <a:t>Refonte du module de log (table par entité) </a:t>
            </a:r>
            <a:r>
              <a:rPr lang="fr-FR" dirty="0">
                <a:solidFill>
                  <a:schemeClr val="bg1"/>
                </a:solidFill>
              </a:rPr>
              <a:t>– </a:t>
            </a:r>
            <a:r>
              <a:rPr lang="fr-FR" b="1" dirty="0">
                <a:solidFill>
                  <a:schemeClr val="bg1"/>
                </a:solidFill>
              </a:rPr>
              <a:t>1 semaine</a:t>
            </a:r>
          </a:p>
          <a:p>
            <a:pPr>
              <a:buFont typeface="+mj-lt"/>
              <a:buAutoNum type="arabicPeriod"/>
            </a:pPr>
            <a:endParaRPr lang="fr-FR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fr-FR" dirty="0">
                <a:solidFill>
                  <a:schemeClr val="bg1"/>
                </a:solidFill>
              </a:rPr>
              <a:t>📈 </a:t>
            </a:r>
            <a:r>
              <a:rPr lang="fr-FR" b="1" dirty="0">
                <a:solidFill>
                  <a:schemeClr val="bg1"/>
                </a:solidFill>
              </a:rPr>
              <a:t>Mise en place du monitoring automatisé (avec seuils d’alerte)</a:t>
            </a:r>
            <a:r>
              <a:rPr lang="fr-FR" dirty="0">
                <a:solidFill>
                  <a:schemeClr val="bg1"/>
                </a:solidFill>
              </a:rPr>
              <a:t>  – </a:t>
            </a:r>
            <a:r>
              <a:rPr lang="fr-FR" b="1" dirty="0">
                <a:solidFill>
                  <a:schemeClr val="bg1"/>
                </a:solidFill>
              </a:rPr>
              <a:t>1 semaines</a:t>
            </a:r>
          </a:p>
          <a:p>
            <a:pPr>
              <a:buFont typeface="+mj-lt"/>
              <a:buAutoNum type="arabicPeriod"/>
            </a:pPr>
            <a:endParaRPr lang="fr-FR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fr-FR" dirty="0">
                <a:solidFill>
                  <a:schemeClr val="bg1"/>
                </a:solidFill>
              </a:rPr>
              <a:t>🧍‍♂️ </a:t>
            </a:r>
            <a:r>
              <a:rPr lang="fr-FR" b="1" dirty="0">
                <a:solidFill>
                  <a:schemeClr val="bg1"/>
                </a:solidFill>
              </a:rPr>
              <a:t>Formation utilisateurs &amp; BI sur les nouveaux flux </a:t>
            </a:r>
            <a:r>
              <a:rPr lang="fr-FR" dirty="0">
                <a:solidFill>
                  <a:schemeClr val="bg1"/>
                </a:solidFill>
              </a:rPr>
              <a:t>– </a:t>
            </a:r>
            <a:r>
              <a:rPr lang="fr-FR" b="1" dirty="0">
                <a:solidFill>
                  <a:schemeClr val="bg1"/>
                </a:solidFill>
              </a:rPr>
              <a:t>1 semaine</a:t>
            </a:r>
          </a:p>
          <a:p>
            <a:pPr>
              <a:buFont typeface="+mj-lt"/>
              <a:buAutoNum type="arabicPeriod"/>
            </a:pPr>
            <a:endParaRPr lang="fr-FR" dirty="0">
              <a:solidFill>
                <a:schemeClr val="bg1"/>
              </a:solidFill>
            </a:endParaRPr>
          </a:p>
          <a:p>
            <a:r>
              <a:rPr lang="fr-FR" b="1" dirty="0">
                <a:solidFill>
                  <a:schemeClr val="bg1"/>
                </a:solidFill>
              </a:rPr>
              <a:t>Coût estimé (ressources internes uniquement)</a:t>
            </a:r>
            <a:r>
              <a:rPr lang="fr-FR" dirty="0">
                <a:solidFill>
                  <a:schemeClr val="bg1"/>
                </a:solidFill>
              </a:rPr>
              <a:t> : ~ </a:t>
            </a:r>
            <a:r>
              <a:rPr lang="fr-FR" b="1" dirty="0">
                <a:solidFill>
                  <a:schemeClr val="bg1"/>
                </a:solidFill>
              </a:rPr>
              <a:t>3-4 semaines</a:t>
            </a:r>
            <a:r>
              <a:rPr lang="fr-FR" dirty="0">
                <a:solidFill>
                  <a:schemeClr val="bg1"/>
                </a:solidFill>
              </a:rPr>
              <a:t> de travail BI + Dev + QA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3066189" y="180938"/>
            <a:ext cx="240892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Conclusion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4FD61-3D4D-1D0D-5D65-4924DDC11BF7}"/>
              </a:ext>
            </a:extLst>
          </p:cNvPr>
          <p:cNvSpPr txBox="1"/>
          <p:nvPr/>
        </p:nvSpPr>
        <p:spPr>
          <a:xfrm>
            <a:off x="0" y="1320800"/>
            <a:ext cx="89633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 problème d’incohérence du chiffre d’affaires vient de données corrompues sur les prix, provoquées par un script automatisé.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La base relationnelle prototypée (</a:t>
            </a:r>
            <a:r>
              <a:rPr lang="fr-FR" dirty="0" err="1">
                <a:solidFill>
                  <a:schemeClr val="bg1"/>
                </a:solidFill>
              </a:rPr>
              <a:t>DuckDB</a:t>
            </a:r>
            <a:r>
              <a:rPr lang="fr-FR" dirty="0">
                <a:solidFill>
                  <a:schemeClr val="bg1"/>
                </a:solidFill>
              </a:rPr>
              <a:t>) a permis de restaurer la cohérence des calculs.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Les logs ont révélé que les insertions étaient massives, centralisées, non tracées finement.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Une approche par modèle en étoile + logs segmentés + validations typées apporte une solution robuste et maintenable.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1128</Words>
  <Application>Microsoft Office PowerPoint</Application>
  <PresentationFormat>On-screen Show (16:9)</PresentationFormat>
  <Paragraphs>135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Montserrat</vt:lpstr>
      <vt:lpstr>Inter</vt:lpstr>
      <vt:lpstr>Arial</vt:lpstr>
      <vt:lpstr>Lato</vt:lpstr>
      <vt:lpstr>Focus</vt:lpstr>
      <vt:lpstr>AUDIT :  Erreur sur le Cube OLAP </vt:lpstr>
      <vt:lpstr>Présentation de la mission</vt:lpstr>
      <vt:lpstr>Analyse de la base de données Architecture de l’entreprise</vt:lpstr>
      <vt:lpstr>Analyse de la base de données Extrait du dictionnaire des données du fichier OLAP</vt:lpstr>
      <vt:lpstr>Analyse de la base de données Extrait du dictionnaire des données du fichier OLAP</vt:lpstr>
      <vt:lpstr>Analyse de la base de données Extrait du dictionnaire des données du fichier LOG</vt:lpstr>
      <vt:lpstr>Analyse de la base de données Schéma relationnel</vt:lpstr>
      <vt:lpstr>Présentation du prototype de BDD Base de Données Relationnelle – POC DuckDB </vt:lpstr>
      <vt:lpstr>Résultat des requêtes SQL Le chiffre d’affaires total pour le 14 Août</vt:lpstr>
      <vt:lpstr>Résultat des requêtes SQL Le chiffre d’affaires par client pour le top 10 des clients</vt:lpstr>
      <vt:lpstr>Résultat des requêtes SQL Le chiffre d’affaires encaissé par employé </vt:lpstr>
      <vt:lpstr>Résultat des requêtes SQL Le chiffre d’affaires encaissé par employé </vt:lpstr>
      <vt:lpstr>Analyse des logs Dictionnaire des données et explications</vt:lpstr>
      <vt:lpstr>Compréhension des problèmes sur la base des logs</vt:lpstr>
      <vt:lpstr>Recommandations pour l’entreprise Actions à mettre en place  Prototype </vt:lpstr>
      <vt:lpstr>Recommandations pour l’entreprise Avantages et inconvénients de la solution</vt:lpstr>
      <vt:lpstr>Recommandations pour l’entreprise Implications pour l’organisation actuelle </vt:lpstr>
      <vt:lpstr>Recommandations pour l’entreprise Implications pour l’organisation actuelle </vt:lpstr>
      <vt:lpstr>Recommandations pour l’entreprise Planning de mise en place et coût éventuel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:  Erreur sur le Cube OLAP </dc:title>
  <cp:lastModifiedBy>Rudy Desplan</cp:lastModifiedBy>
  <cp:revision>27</cp:revision>
  <dcterms:modified xsi:type="dcterms:W3CDTF">2025-07-09T16:22:37Z</dcterms:modified>
</cp:coreProperties>
</file>