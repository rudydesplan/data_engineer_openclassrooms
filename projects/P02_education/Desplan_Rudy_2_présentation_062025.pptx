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-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92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143000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1628775"/>
            <a:ext cx="8358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Internationale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428625" y="2528888"/>
            <a:ext cx="8358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des Systèmes Éducatifs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428625" y="3157538"/>
            <a:ext cx="8286750" cy="8429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70759" y="3398639"/>
            <a:ext cx="69060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Objectif :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1289921" y="3398639"/>
            <a:ext cx="7254757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Analyser les données éducatives mondiales pour identifier les opportunités d'expansion internationale et formuler des recommandations stratégiques basées sur des données factuelles.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28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À Notre Disposition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337907" y="916714"/>
            <a:ext cx="4214813" cy="1138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071563"/>
            <a:ext cx="28575" cy="960053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1284424"/>
            <a:ext cx="119658" cy="1371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439" y="1250156"/>
            <a:ext cx="114632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EdStatsData.csv</a:t>
            </a:r>
            <a:endParaRPr lang="en-US" sz="1080" dirty="0"/>
          </a:p>
        </p:txBody>
      </p:sp>
      <p:sp>
        <p:nvSpPr>
          <p:cNvPr id="8" name="Text 4"/>
          <p:cNvSpPr/>
          <p:nvPr/>
        </p:nvSpPr>
        <p:spPr>
          <a:xfrm>
            <a:off x="464344" y="1546957"/>
            <a:ext cx="91013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Fichier principal</a:t>
            </a:r>
            <a:endParaRPr lang="en-US" sz="855" dirty="0"/>
          </a:p>
        </p:txBody>
      </p:sp>
      <p:sp>
        <p:nvSpPr>
          <p:cNvPr id="9" name="Text 5"/>
          <p:cNvSpPr/>
          <p:nvPr/>
        </p:nvSpPr>
        <p:spPr>
          <a:xfrm>
            <a:off x="455848" y="1684474"/>
            <a:ext cx="3825506" cy="284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contenant les valeurs des indicateurs éducatifs pour chaque pays et chaque année. Source centrale de notre analyse.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4643438" y="1071563"/>
            <a:ext cx="4214813" cy="960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643438" y="1071563"/>
            <a:ext cx="28575" cy="960053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284424"/>
            <a:ext cx="137517" cy="1371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30986" y="1250156"/>
            <a:ext cx="12608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EdStatsSeries.csv</a:t>
            </a:r>
            <a:endParaRPr lang="en-US" sz="1080" dirty="0"/>
          </a:p>
        </p:txBody>
      </p:sp>
      <p:sp>
        <p:nvSpPr>
          <p:cNvPr id="14" name="Text 9"/>
          <p:cNvSpPr/>
          <p:nvPr/>
        </p:nvSpPr>
        <p:spPr>
          <a:xfrm>
            <a:off x="4822031" y="1546957"/>
            <a:ext cx="159199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Métadonnées des indicateurs</a:t>
            </a:r>
            <a:endParaRPr lang="en-US" sz="855" dirty="0"/>
          </a:p>
        </p:txBody>
      </p:sp>
      <p:sp>
        <p:nvSpPr>
          <p:cNvPr id="15" name="Text 10"/>
          <p:cNvSpPr/>
          <p:nvPr/>
        </p:nvSpPr>
        <p:spPr>
          <a:xfrm>
            <a:off x="4806900" y="1658746"/>
            <a:ext cx="3559262" cy="284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noms, descriptions, catégories (Topics) permettant de classifier les indicateurs par domaine éducatif.</a:t>
            </a:r>
            <a:endParaRPr lang="en-US" sz="855" dirty="0"/>
          </a:p>
        </p:txBody>
      </p:sp>
      <p:sp>
        <p:nvSpPr>
          <p:cNvPr id="16" name="Shape 11"/>
          <p:cNvSpPr/>
          <p:nvPr/>
        </p:nvSpPr>
        <p:spPr>
          <a:xfrm>
            <a:off x="285750" y="2174491"/>
            <a:ext cx="4214813" cy="960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285750" y="2174491"/>
            <a:ext cx="28575" cy="960053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4" y="2387352"/>
            <a:ext cx="137517" cy="13715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3298" y="2353084"/>
            <a:ext cx="1364568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EdStatsCountry.csv</a:t>
            </a:r>
            <a:endParaRPr lang="en-US" sz="1080" dirty="0"/>
          </a:p>
        </p:txBody>
      </p:sp>
      <p:sp>
        <p:nvSpPr>
          <p:cNvPr id="20" name="Text 14"/>
          <p:cNvSpPr/>
          <p:nvPr/>
        </p:nvSpPr>
        <p:spPr>
          <a:xfrm>
            <a:off x="464344" y="2649885"/>
            <a:ext cx="100662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Informations pays</a:t>
            </a:r>
            <a:endParaRPr lang="en-US" sz="855" dirty="0"/>
          </a:p>
        </p:txBody>
      </p:sp>
      <p:sp>
        <p:nvSpPr>
          <p:cNvPr id="21" name="Text 15"/>
          <p:cNvSpPr/>
          <p:nvPr/>
        </p:nvSpPr>
        <p:spPr>
          <a:xfrm>
            <a:off x="475289" y="2771657"/>
            <a:ext cx="3396769" cy="284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codes, noms, régions, groupes de revenus pour contextualiser géographiquement les données.</a:t>
            </a:r>
            <a:endParaRPr lang="en-US" sz="855" dirty="0"/>
          </a:p>
        </p:txBody>
      </p:sp>
      <p:sp>
        <p:nvSpPr>
          <p:cNvPr id="22" name="Shape 16"/>
          <p:cNvSpPr/>
          <p:nvPr/>
        </p:nvSpPr>
        <p:spPr>
          <a:xfrm>
            <a:off x="4643438" y="2174491"/>
            <a:ext cx="4214813" cy="960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643438" y="2174491"/>
            <a:ext cx="28575" cy="960053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2387352"/>
            <a:ext cx="171450" cy="13715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64919" y="2353084"/>
            <a:ext cx="1832232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EdStatsCountry-Series.csv</a:t>
            </a:r>
            <a:endParaRPr lang="en-US" sz="1080" dirty="0"/>
          </a:p>
        </p:txBody>
      </p:sp>
      <p:sp>
        <p:nvSpPr>
          <p:cNvPr id="26" name="Text 19"/>
          <p:cNvSpPr/>
          <p:nvPr/>
        </p:nvSpPr>
        <p:spPr>
          <a:xfrm>
            <a:off x="4822031" y="2649885"/>
            <a:ext cx="8779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de liaison</a:t>
            </a:r>
            <a:endParaRPr lang="en-US" sz="855" dirty="0"/>
          </a:p>
        </p:txBody>
      </p:sp>
      <p:sp>
        <p:nvSpPr>
          <p:cNvPr id="27" name="Text 20"/>
          <p:cNvSpPr/>
          <p:nvPr/>
        </p:nvSpPr>
        <p:spPr>
          <a:xfrm>
            <a:off x="4822031" y="2771657"/>
            <a:ext cx="3624114" cy="284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 pays et séries de données, permettant de filtrer les indicateurs disponibles par pays.</a:t>
            </a:r>
            <a:endParaRPr lang="en-US" sz="8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Méthodologie de Nettoyage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285750" y="1143000"/>
            <a:ext cx="2000250" cy="1399254"/>
          </a:xfrm>
          <a:prstGeom prst="rect">
            <a:avLst/>
          </a:prstGeom>
          <a:solidFill>
            <a:srgbClr val="FFFFFF"/>
          </a:solidFill>
          <a:ln w="397">
            <a:solidFill>
              <a:srgbClr val="3182C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1300163"/>
            <a:ext cx="285750" cy="28575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1300163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8625" y="1693069"/>
            <a:ext cx="178593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Approche Métier</a:t>
            </a:r>
            <a:endParaRPr lang="en-US" sz="990" dirty="0"/>
          </a:p>
        </p:txBody>
      </p:sp>
      <p:sp>
        <p:nvSpPr>
          <p:cNvPr id="8" name="Text 5"/>
          <p:cNvSpPr/>
          <p:nvPr/>
        </p:nvSpPr>
        <p:spPr>
          <a:xfrm>
            <a:off x="428625" y="1953118"/>
            <a:ext cx="1785938" cy="43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Sélection de 13 catégories d'indicateurs pertinents pour l'expansion éducative internationale</a:t>
            </a:r>
            <a:endParaRPr lang="en-US" sz="81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925" y="1719383"/>
            <a:ext cx="200025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71875" y="1143000"/>
            <a:ext cx="2000250" cy="1399254"/>
          </a:xfrm>
          <a:prstGeom prst="rect">
            <a:avLst/>
          </a:prstGeom>
          <a:solidFill>
            <a:srgbClr val="FFFFFF"/>
          </a:solidFill>
          <a:ln w="397">
            <a:solidFill>
              <a:srgbClr val="3182C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29125" y="1300163"/>
            <a:ext cx="285750" cy="28575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2" name="Text 8"/>
          <p:cNvSpPr/>
          <p:nvPr/>
        </p:nvSpPr>
        <p:spPr>
          <a:xfrm>
            <a:off x="4429125" y="1300163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714750" y="1693069"/>
            <a:ext cx="178593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Filtrage Temporel</a:t>
            </a:r>
            <a:endParaRPr lang="en-US" sz="990" dirty="0"/>
          </a:p>
        </p:txBody>
      </p:sp>
      <p:sp>
        <p:nvSpPr>
          <p:cNvPr id="14" name="Text 10"/>
          <p:cNvSpPr/>
          <p:nvPr/>
        </p:nvSpPr>
        <p:spPr>
          <a:xfrm>
            <a:off x="3714750" y="1953118"/>
            <a:ext cx="1785938" cy="43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sur 2005-2010 : seules années avec données suffisantes (&lt; 80% valeurs manquantes)</a:t>
            </a:r>
            <a:endParaRPr lang="en-US" sz="81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1719383"/>
            <a:ext cx="200025" cy="228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858000" y="1143000"/>
            <a:ext cx="2000250" cy="1399254"/>
          </a:xfrm>
          <a:prstGeom prst="rect">
            <a:avLst/>
          </a:prstGeom>
          <a:solidFill>
            <a:srgbClr val="FFFFFF"/>
          </a:solidFill>
          <a:ln w="397">
            <a:solidFill>
              <a:srgbClr val="3182C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15250" y="1285875"/>
            <a:ext cx="285750" cy="28575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8" name="Text 13"/>
          <p:cNvSpPr/>
          <p:nvPr/>
        </p:nvSpPr>
        <p:spPr>
          <a:xfrm>
            <a:off x="7715250" y="1285875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000875" y="1678781"/>
            <a:ext cx="178593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Nettoyage Statistique</a:t>
            </a:r>
            <a:endParaRPr lang="en-US" sz="990" dirty="0"/>
          </a:p>
        </p:txBody>
      </p:sp>
      <p:sp>
        <p:nvSpPr>
          <p:cNvPr id="20" name="Text 15"/>
          <p:cNvSpPr/>
          <p:nvPr/>
        </p:nvSpPr>
        <p:spPr>
          <a:xfrm>
            <a:off x="7000875" y="1938830"/>
            <a:ext cx="1785938" cy="43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Suppression des doublons, gestion des valeurs manquantes, filtrage des pays valides</a:t>
            </a:r>
            <a:endParaRPr lang="en-US" sz="810" dirty="0"/>
          </a:p>
        </p:txBody>
      </p:sp>
      <p:sp>
        <p:nvSpPr>
          <p:cNvPr id="21" name="Shape 16"/>
          <p:cNvSpPr/>
          <p:nvPr/>
        </p:nvSpPr>
        <p:spPr>
          <a:xfrm>
            <a:off x="285750" y="2870867"/>
            <a:ext cx="8572500" cy="942975"/>
          </a:xfrm>
          <a:prstGeom prst="rect">
            <a:avLst/>
          </a:prstGeom>
          <a:solidFill>
            <a:srgbClr val="E6FFFA"/>
          </a:solidFill>
          <a:ln w="198">
            <a:solidFill>
              <a:srgbClr val="38B2A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3208" y="3036959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23233" y="3033387"/>
            <a:ext cx="1968996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 : Dataset Optimisé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611321" y="3320923"/>
            <a:ext cx="97322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: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513108" y="3320923"/>
            <a:ext cx="709100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milliers d'indicateurs sur plusieurs décennies à un ensemble ciblé d'indicateurs éducatifs clés, 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  permettant une analyse focalisée sur les opportunités d'expansion.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81496"/>
            <a:ext cx="8643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Exploratoire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285749" y="510121"/>
            <a:ext cx="8429625" cy="3160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5"/>
          <p:cNvSpPr/>
          <p:nvPr/>
        </p:nvSpPr>
        <p:spPr>
          <a:xfrm>
            <a:off x="285750" y="3813311"/>
            <a:ext cx="8572500" cy="1008692"/>
          </a:xfrm>
          <a:prstGeom prst="rect">
            <a:avLst/>
          </a:prstGeom>
          <a:solidFill>
            <a:srgbClr val="FFF5F5"/>
          </a:solidFill>
          <a:ln w="198">
            <a:solidFill>
              <a:srgbClr val="FC8181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993328"/>
            <a:ext cx="110728" cy="1485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0791" y="3956186"/>
            <a:ext cx="1898452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C53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Clés de l'Analyse</a:t>
            </a:r>
            <a:endParaRPr lang="en-US" sz="1170" dirty="0"/>
          </a:p>
        </p:txBody>
      </p:sp>
      <p:sp>
        <p:nvSpPr>
          <p:cNvPr id="13" name="Text 7"/>
          <p:cNvSpPr/>
          <p:nvPr/>
        </p:nvSpPr>
        <p:spPr>
          <a:xfrm>
            <a:off x="428625" y="4264791"/>
            <a:ext cx="1612506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Corrélations fortes identifiées :</a:t>
            </a:r>
            <a:endParaRPr lang="en-US" sz="788" dirty="0"/>
          </a:p>
        </p:txBody>
      </p:sp>
      <p:sp>
        <p:nvSpPr>
          <p:cNvPr id="14" name="Text 8"/>
          <p:cNvSpPr/>
          <p:nvPr/>
        </p:nvSpPr>
        <p:spPr>
          <a:xfrm>
            <a:off x="1969694" y="4264791"/>
            <a:ext cx="225335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 totale et nombre d'enseignants (0.91)</a:t>
            </a:r>
            <a:endParaRPr lang="en-US" sz="788" dirty="0"/>
          </a:p>
        </p:txBody>
      </p:sp>
      <p:sp>
        <p:nvSpPr>
          <p:cNvPr id="15" name="Text 9"/>
          <p:cNvSpPr/>
          <p:nvPr/>
        </p:nvSpPr>
        <p:spPr>
          <a:xfrm>
            <a:off x="4629150" y="4264791"/>
            <a:ext cx="157935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Indicateurs complémentaires :</a:t>
            </a:r>
            <a:endParaRPr lang="en-US" sz="788" dirty="0"/>
          </a:p>
        </p:txBody>
      </p:sp>
      <p:sp>
        <p:nvSpPr>
          <p:cNvPr id="16" name="Text 10"/>
          <p:cNvSpPr/>
          <p:nvPr/>
        </p:nvSpPr>
        <p:spPr>
          <a:xfrm>
            <a:off x="6137067" y="4264791"/>
            <a:ext cx="2229296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 d'alphabétisation et PIB par habitant (0.81)</a:t>
            </a:r>
            <a:endParaRPr lang="en-US" sz="788" dirty="0"/>
          </a:p>
        </p:txBody>
      </p:sp>
      <p:sp>
        <p:nvSpPr>
          <p:cNvPr id="17" name="Text 11"/>
          <p:cNvSpPr/>
          <p:nvPr/>
        </p:nvSpPr>
        <p:spPr>
          <a:xfrm>
            <a:off x="428625" y="4521966"/>
            <a:ext cx="153467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Réduction des redondances :</a:t>
            </a:r>
            <a:endParaRPr lang="en-US" sz="788" dirty="0"/>
          </a:p>
        </p:txBody>
      </p:sp>
      <p:sp>
        <p:nvSpPr>
          <p:cNvPr id="18" name="Text 12"/>
          <p:cNvSpPr/>
          <p:nvPr/>
        </p:nvSpPr>
        <p:spPr>
          <a:xfrm>
            <a:off x="1891866" y="4521966"/>
            <a:ext cx="198652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Élimination des indicateurs corrélés &gt; 90%</a:t>
            </a:r>
            <a:endParaRPr lang="en-US" sz="788" dirty="0"/>
          </a:p>
        </p:txBody>
      </p:sp>
      <p:sp>
        <p:nvSpPr>
          <p:cNvPr id="19" name="Text 13"/>
          <p:cNvSpPr/>
          <p:nvPr/>
        </p:nvSpPr>
        <p:spPr>
          <a:xfrm>
            <a:off x="4629150" y="4521966"/>
            <a:ext cx="79005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Dataset final :</a:t>
            </a:r>
            <a:endParaRPr lang="en-US" sz="788" dirty="0"/>
          </a:p>
        </p:txBody>
      </p:sp>
      <p:sp>
        <p:nvSpPr>
          <p:cNvPr id="20" name="Text 14"/>
          <p:cNvSpPr/>
          <p:nvPr/>
        </p:nvSpPr>
        <p:spPr>
          <a:xfrm>
            <a:off x="5347767" y="4521966"/>
            <a:ext cx="2203066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 optimisés pour l'analyse stratégique</a:t>
            </a:r>
            <a:endParaRPr lang="en-US" sz="788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F51706-8A1B-6941-3284-5874FDAFFBB4}"/>
              </a:ext>
            </a:extLst>
          </p:cNvPr>
          <p:cNvSpPr txBox="1"/>
          <p:nvPr/>
        </p:nvSpPr>
        <p:spPr>
          <a:xfrm>
            <a:off x="285749" y="569414"/>
            <a:ext cx="842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Corrélations</a:t>
            </a:r>
            <a:r>
              <a:rPr lang="en-US" sz="180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Pearson</a:t>
            </a:r>
            <a:endParaRPr lang="en-US" sz="1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A0A4852-EEB6-A3AD-E561-5BB390D4A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2909" y="938746"/>
            <a:ext cx="3294158" cy="2721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98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9797" y="81064"/>
            <a:ext cx="8643938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 err="1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Sélection</a:t>
            </a:r>
            <a:r>
              <a:rPr lang="en-US" sz="2250" b="1" dirty="0">
                <a:solidFill>
                  <a:srgbClr val="2B6C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 pays pour l'Expansion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285750" y="636268"/>
            <a:ext cx="4196953" cy="16264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071563"/>
            <a:ext cx="28575" cy="11911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69" y="735778"/>
            <a:ext cx="167878" cy="1485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7091" y="734129"/>
            <a:ext cx="3675152" cy="1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 err="1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Catégorisation</a:t>
            </a:r>
            <a:r>
              <a:rPr lang="en-US" sz="108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 </a:t>
            </a:r>
            <a:r>
              <a:rPr lang="en-US" sz="1080" b="1" dirty="0" err="1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</a:t>
            </a:r>
            <a:endParaRPr lang="en-US" sz="1080" dirty="0"/>
          </a:p>
        </p:txBody>
      </p:sp>
      <p:sp>
        <p:nvSpPr>
          <p:cNvPr id="8" name="Text 4"/>
          <p:cNvSpPr/>
          <p:nvPr/>
        </p:nvSpPr>
        <p:spPr>
          <a:xfrm>
            <a:off x="442912" y="977355"/>
            <a:ext cx="3911203" cy="138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fr-FR" sz="900" b="0" i="0" dirty="0">
                <a:effectLst/>
                <a:latin typeface="system-ui"/>
              </a:rPr>
              <a:t>Indicateurs Clés pour la Stratégie : </a:t>
            </a:r>
            <a:r>
              <a:rPr lang="fr-FR" sz="900" b="0" i="1" dirty="0">
                <a:effectLst/>
                <a:latin typeface="system-ui"/>
              </a:rPr>
              <a:t>Ce sont les indicateurs les plus pertinents pour le clustering et le </a:t>
            </a:r>
            <a:r>
              <a:rPr lang="fr-FR" sz="900" b="0" i="1" dirty="0" err="1">
                <a:effectLst/>
                <a:latin typeface="system-ui"/>
              </a:rPr>
              <a:t>scoring</a:t>
            </a:r>
            <a:r>
              <a:rPr lang="fr-FR" sz="900" b="0" i="1" dirty="0">
                <a:effectLst/>
                <a:latin typeface="system-ui"/>
              </a:rPr>
              <a:t>, car ils décrivent directement le marché et son potentiel.</a:t>
            </a:r>
          </a:p>
          <a:p>
            <a:pPr algn="l"/>
            <a:endParaRPr lang="fr-FR" sz="900" dirty="0">
              <a:latin typeface="system-ui"/>
            </a:endParaRPr>
          </a:p>
          <a:p>
            <a:r>
              <a:rPr lang="fr-FR" sz="900" b="0" i="0" dirty="0">
                <a:effectLst/>
                <a:latin typeface="system-ui"/>
              </a:rPr>
              <a:t>Indicateurs de Contexte Structurel : </a:t>
            </a:r>
            <a:r>
              <a:rPr lang="fr-FR" sz="900" b="0" i="1" dirty="0">
                <a:effectLst/>
                <a:latin typeface="system-ui"/>
              </a:rPr>
              <a:t>Ce sont des informations utiles pour comprendre le fonctionnement d'un pays une fois sélectionné, mais moins utiles pour le classer</a:t>
            </a:r>
          </a:p>
          <a:p>
            <a:endParaRPr lang="fr-FR" sz="900" b="0" dirty="0">
              <a:effectLst/>
              <a:latin typeface="system-ui"/>
            </a:endParaRPr>
          </a:p>
          <a:p>
            <a:r>
              <a:rPr lang="fr-FR" sz="900" b="0" i="0" dirty="0">
                <a:effectLst/>
                <a:latin typeface="system-ui"/>
              </a:rPr>
              <a:t>Indicateurs à Écarter du Modèle : </a:t>
            </a:r>
            <a:r>
              <a:rPr lang="fr-FR" sz="900" b="0" i="1" dirty="0">
                <a:effectLst/>
                <a:latin typeface="system-ui"/>
              </a:rPr>
              <a:t>Ceux-ci sont écartés car ils concernent des populations hors de la cible principale d'</a:t>
            </a:r>
            <a:r>
              <a:rPr lang="fr-FR" sz="900" b="0" i="1" dirty="0" err="1">
                <a:effectLst/>
                <a:latin typeface="system-ui"/>
              </a:rPr>
              <a:t>academy</a:t>
            </a:r>
            <a:endParaRPr lang="fr-FR" sz="900" b="0" i="0" dirty="0">
              <a:effectLst/>
              <a:latin typeface="system-ui"/>
            </a:endParaRPr>
          </a:p>
          <a:p>
            <a:pPr algn="l"/>
            <a:endParaRPr lang="fr-FR" sz="900" b="0" dirty="0">
              <a:effectLst/>
              <a:latin typeface="system-ui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61297" y="636268"/>
            <a:ext cx="4196953" cy="16264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4661297" y="1071563"/>
            <a:ext cx="28575" cy="119119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7"/>
          <p:cNvSpPr/>
          <p:nvPr/>
        </p:nvSpPr>
        <p:spPr>
          <a:xfrm>
            <a:off x="4854178" y="803190"/>
            <a:ext cx="1940309" cy="1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Clustering avec 4 </a:t>
            </a:r>
            <a:r>
              <a:rPr lang="en-US" sz="1080" b="1" dirty="0" err="1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</a:t>
            </a:r>
            <a:endParaRPr lang="en-US" sz="1080" dirty="0"/>
          </a:p>
        </p:txBody>
      </p:sp>
      <p:sp>
        <p:nvSpPr>
          <p:cNvPr id="12" name="Text 8"/>
          <p:cNvSpPr/>
          <p:nvPr/>
        </p:nvSpPr>
        <p:spPr>
          <a:xfrm>
            <a:off x="4818459" y="996606"/>
            <a:ext cx="3911203" cy="1246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fr-FR" sz="900" b="0" i="0" dirty="0">
                <a:effectLst/>
                <a:latin typeface="system-ui"/>
              </a:rPr>
              <a:t>4 indicateurs pour le clustering, car il couvre les dimensions essentielles  :</a:t>
            </a:r>
            <a:br>
              <a:rPr lang="fr-FR" sz="900" b="0" i="0" dirty="0">
                <a:effectLst/>
                <a:latin typeface="system-ui"/>
              </a:rPr>
            </a:br>
            <a:br>
              <a:rPr lang="fr-FR" sz="900" b="0" i="0" dirty="0">
                <a:effectLst/>
                <a:latin typeface="system-ui"/>
              </a:rPr>
            </a:br>
            <a:r>
              <a:rPr lang="fr-FR" sz="900" b="1" i="0" dirty="0">
                <a:effectLst/>
                <a:latin typeface="system-ui"/>
              </a:rPr>
              <a:t>Volume du Marché </a:t>
            </a:r>
            <a:br>
              <a:rPr lang="fr-FR" sz="900" b="1" i="0" dirty="0">
                <a:effectLst/>
                <a:latin typeface="system-ui"/>
              </a:rPr>
            </a:br>
            <a:br>
              <a:rPr lang="fr-FR" sz="900" b="1" i="0" dirty="0">
                <a:effectLst/>
                <a:latin typeface="system-ui"/>
              </a:rPr>
            </a:br>
            <a:r>
              <a:rPr lang="fr-FR" sz="900" b="1" i="0" dirty="0">
                <a:effectLst/>
                <a:latin typeface="system-ui"/>
              </a:rPr>
              <a:t> Maturité du Marché Supérieur </a:t>
            </a:r>
            <a:br>
              <a:rPr lang="fr-FR" sz="900" b="1" i="0" dirty="0">
                <a:effectLst/>
                <a:latin typeface="system-ui"/>
              </a:rPr>
            </a:br>
            <a:br>
              <a:rPr lang="fr-FR" sz="900" b="1" i="0" dirty="0">
                <a:effectLst/>
                <a:latin typeface="system-ui"/>
              </a:rPr>
            </a:br>
            <a:r>
              <a:rPr lang="fr-FR" sz="900" b="1" i="0" dirty="0">
                <a:effectLst/>
                <a:latin typeface="system-ui"/>
              </a:rPr>
              <a:t>Ouverture / Demande Alternative </a:t>
            </a:r>
            <a:br>
              <a:rPr lang="fr-FR" sz="900" b="1" i="0" dirty="0">
                <a:effectLst/>
                <a:latin typeface="system-ui"/>
              </a:rPr>
            </a:br>
            <a:br>
              <a:rPr lang="fr-FR" sz="900" b="1" i="0" dirty="0">
                <a:effectLst/>
                <a:latin typeface="system-ui"/>
              </a:rPr>
            </a:br>
            <a:r>
              <a:rPr lang="fr-FR" sz="900" b="1" i="0" dirty="0">
                <a:effectLst/>
                <a:latin typeface="system-ui"/>
              </a:rPr>
              <a:t> Santé du Système de Base</a:t>
            </a:r>
            <a:endParaRPr lang="en-US" sz="855" dirty="0"/>
          </a:p>
        </p:txBody>
      </p:sp>
      <p:sp>
        <p:nvSpPr>
          <p:cNvPr id="13" name="Shape 9"/>
          <p:cNvSpPr/>
          <p:nvPr/>
        </p:nvSpPr>
        <p:spPr>
          <a:xfrm>
            <a:off x="285750" y="2441349"/>
            <a:ext cx="4196953" cy="1191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285750" y="2441349"/>
            <a:ext cx="28575" cy="119119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1"/>
          <p:cNvSpPr/>
          <p:nvPr/>
        </p:nvSpPr>
        <p:spPr>
          <a:xfrm>
            <a:off x="442912" y="2529139"/>
            <a:ext cx="3467676" cy="1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Creation de </a:t>
            </a:r>
            <a:r>
              <a:rPr lang="en-US" sz="1080" b="1" dirty="0" err="1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Profils</a:t>
            </a:r>
            <a:r>
              <a:rPr lang="en-US" sz="108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Marché suite au clustering</a:t>
            </a:r>
            <a:endParaRPr lang="en-US" sz="1080" dirty="0"/>
          </a:p>
        </p:txBody>
      </p:sp>
      <p:sp>
        <p:nvSpPr>
          <p:cNvPr id="17" name="Text 12"/>
          <p:cNvSpPr/>
          <p:nvPr/>
        </p:nvSpPr>
        <p:spPr>
          <a:xfrm>
            <a:off x="464344" y="2847134"/>
            <a:ext cx="3911203" cy="69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fr-FR" sz="900" b="0" i="0" dirty="0">
                <a:effectLst/>
                <a:latin typeface="system-ui"/>
              </a:rPr>
              <a:t>Cluster 0 : Les Bons Élèves Stables</a:t>
            </a:r>
            <a:br>
              <a:rPr lang="fr-FR" sz="900" b="0" i="0" dirty="0">
                <a:effectLst/>
                <a:latin typeface="system-ui"/>
              </a:rPr>
            </a:br>
            <a:r>
              <a:rPr lang="fr-FR" sz="900" b="0" i="0" dirty="0">
                <a:effectLst/>
                <a:latin typeface="system-ui"/>
              </a:rPr>
              <a:t>Cluster 1 : Les Géants à Forts Défis</a:t>
            </a:r>
          </a:p>
          <a:p>
            <a:r>
              <a:rPr lang="fr-FR" sz="900" b="0" i="0" dirty="0">
                <a:effectLst/>
                <a:latin typeface="system-ui"/>
              </a:rPr>
              <a:t>Cluster 2 : Les Pôles Internationaux</a:t>
            </a:r>
          </a:p>
          <a:p>
            <a:r>
              <a:rPr lang="fr-FR" sz="900" b="0" i="0" dirty="0">
                <a:effectLst/>
                <a:latin typeface="system-ui"/>
              </a:rPr>
              <a:t>Cluster 3 : Les Marchés Matures et Performants</a:t>
            </a:r>
          </a:p>
          <a:p>
            <a:pPr algn="l"/>
            <a:endParaRPr lang="fr-FR" sz="900" b="0" i="0" dirty="0">
              <a:effectLst/>
              <a:latin typeface="system-ui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661297" y="2441349"/>
            <a:ext cx="4196953" cy="1191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661297" y="2441349"/>
            <a:ext cx="28575" cy="119119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5"/>
          <p:cNvSpPr/>
          <p:nvPr/>
        </p:nvSpPr>
        <p:spPr>
          <a:xfrm>
            <a:off x="5006776" y="2538470"/>
            <a:ext cx="3505993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Creation d’un Moyenne </a:t>
            </a:r>
            <a:r>
              <a:rPr lang="en-US" sz="1080" b="1" dirty="0" err="1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pondérée</a:t>
            </a:r>
            <a:r>
              <a:rPr lang="en-US" sz="108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 les 2 clusters </a:t>
            </a:r>
            <a:r>
              <a:rPr lang="en-US" sz="1080" b="1" dirty="0" err="1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sélectionnés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5012532" y="3100662"/>
            <a:ext cx="391120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 err="1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</a:t>
            </a:r>
            <a:r>
              <a:rPr lang="en-US" sz="85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</a:t>
            </a:r>
            <a:r>
              <a:rPr lang="fr-FR" sz="900" b="0" i="0" dirty="0">
                <a:effectLst/>
                <a:latin typeface="system-ui"/>
              </a:rPr>
              <a:t>Une liste classée et finale des pays .</a:t>
            </a:r>
            <a:endParaRPr lang="en-US" sz="855" dirty="0"/>
          </a:p>
        </p:txBody>
      </p:sp>
      <p:sp>
        <p:nvSpPr>
          <p:cNvPr id="22" name="Shape 17"/>
          <p:cNvSpPr/>
          <p:nvPr/>
        </p:nvSpPr>
        <p:spPr>
          <a:xfrm>
            <a:off x="285750" y="3811135"/>
            <a:ext cx="8572500" cy="1132982"/>
          </a:xfrm>
          <a:prstGeom prst="rect">
            <a:avLst/>
          </a:prstGeom>
          <a:solidFill>
            <a:srgbClr val="F0FFF4"/>
          </a:solidFill>
          <a:ln w="198">
            <a:solidFill>
              <a:srgbClr val="38A169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956" y="3879397"/>
            <a:ext cx="160734" cy="16000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18949" y="3866388"/>
            <a:ext cx="1481175" cy="1938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COUNTRIES</a:t>
            </a:r>
            <a:endParaRPr lang="en-US" sz="126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817D96-5A38-B84B-8FFC-877C0CE0967E}"/>
              </a:ext>
            </a:extLst>
          </p:cNvPr>
          <p:cNvSpPr txBox="1"/>
          <p:nvPr/>
        </p:nvSpPr>
        <p:spPr>
          <a:xfrm>
            <a:off x="486957" y="4116401"/>
            <a:ext cx="2352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F72D74-AA77-D723-1C58-3C5452303710}"/>
              </a:ext>
            </a:extLst>
          </p:cNvPr>
          <p:cNvSpPr txBox="1"/>
          <p:nvPr/>
        </p:nvSpPr>
        <p:spPr>
          <a:xfrm>
            <a:off x="442912" y="3980592"/>
            <a:ext cx="35480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Cyprus</a:t>
            </a:r>
            <a:r>
              <a:rPr lang="fr-FR" sz="1200" dirty="0"/>
              <a:t>                          		0.724445</a:t>
            </a:r>
          </a:p>
          <a:p>
            <a:r>
              <a:rPr lang="en-US" sz="1200" dirty="0"/>
              <a:t>St. Vincent and the Grenadines  	0.592656</a:t>
            </a:r>
            <a:endParaRPr lang="fr-FR" sz="1200" dirty="0"/>
          </a:p>
          <a:p>
            <a:r>
              <a:rPr lang="fr-FR" sz="1200" dirty="0"/>
              <a:t>Luxembourg                      		0.584896</a:t>
            </a:r>
          </a:p>
          <a:p>
            <a:r>
              <a:rPr lang="fr-FR" sz="1200" dirty="0"/>
              <a:t>Bahamas, The                    		0.584863</a:t>
            </a:r>
          </a:p>
          <a:p>
            <a:r>
              <a:rPr lang="fr-FR" sz="1200" dirty="0"/>
              <a:t>Samoa                           		0.578773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FFAAC1-C7B4-8076-CA1A-9EF0488D5A6A}"/>
              </a:ext>
            </a:extLst>
          </p:cNvPr>
          <p:cNvSpPr txBox="1"/>
          <p:nvPr/>
        </p:nvSpPr>
        <p:spPr>
          <a:xfrm>
            <a:off x="5108999" y="3980591"/>
            <a:ext cx="35480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Kuwait                          		0.573669</a:t>
            </a:r>
            <a:br>
              <a:rPr lang="fr-FR" sz="1200" dirty="0"/>
            </a:br>
            <a:r>
              <a:rPr lang="en-US" sz="1200" dirty="0"/>
              <a:t>Peru                            		0.567693</a:t>
            </a:r>
            <a:endParaRPr lang="fr-FR" sz="1200" dirty="0"/>
          </a:p>
          <a:p>
            <a:r>
              <a:rPr lang="fr-FR" sz="1200" dirty="0"/>
              <a:t>Argentina                       		0.564272</a:t>
            </a:r>
          </a:p>
          <a:p>
            <a:r>
              <a:rPr lang="fr-FR" sz="1200" dirty="0"/>
              <a:t>Belarus                         		0.559683</a:t>
            </a:r>
          </a:p>
          <a:p>
            <a:r>
              <a:rPr lang="fr-FR" sz="1200" dirty="0"/>
              <a:t>Belize                          		0.552766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501</Words>
  <Application>Microsoft Office PowerPoint</Application>
  <PresentationFormat>On-screen Show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Rudy Desplan</cp:lastModifiedBy>
  <cp:revision>7</cp:revision>
  <dcterms:created xsi:type="dcterms:W3CDTF">2025-06-14T11:47:20Z</dcterms:created>
  <dcterms:modified xsi:type="dcterms:W3CDTF">2025-06-14T12:48:31Z</dcterms:modified>
</cp:coreProperties>
</file>