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36"/>
  </p:notesMasterIdLst>
  <p:sldIdLst>
    <p:sldId id="256" r:id="rId3"/>
    <p:sldId id="257" r:id="rId4"/>
    <p:sldId id="260" r:id="rId5"/>
    <p:sldId id="259" r:id="rId6"/>
    <p:sldId id="258" r:id="rId7"/>
    <p:sldId id="261" r:id="rId8"/>
    <p:sldId id="262" r:id="rId9"/>
    <p:sldId id="264" r:id="rId10"/>
    <p:sldId id="265" r:id="rId11"/>
    <p:sldId id="278" r:id="rId12"/>
    <p:sldId id="267" r:id="rId13"/>
    <p:sldId id="279" r:id="rId14"/>
    <p:sldId id="268" r:id="rId15"/>
    <p:sldId id="280" r:id="rId16"/>
    <p:sldId id="269" r:id="rId17"/>
    <p:sldId id="281" r:id="rId18"/>
    <p:sldId id="270" r:id="rId19"/>
    <p:sldId id="282" r:id="rId20"/>
    <p:sldId id="271" r:id="rId21"/>
    <p:sldId id="283" r:id="rId22"/>
    <p:sldId id="272" r:id="rId23"/>
    <p:sldId id="284" r:id="rId24"/>
    <p:sldId id="273" r:id="rId25"/>
    <p:sldId id="285" r:id="rId26"/>
    <p:sldId id="274" r:id="rId27"/>
    <p:sldId id="286" r:id="rId28"/>
    <p:sldId id="275" r:id="rId29"/>
    <p:sldId id="287" r:id="rId30"/>
    <p:sldId id="276" r:id="rId31"/>
    <p:sldId id="288" r:id="rId32"/>
    <p:sldId id="277" r:id="rId33"/>
    <p:sldId id="289" r:id="rId34"/>
    <p:sldId id="266" r:id="rId35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37"/>
      <p:bold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Inter" panose="02000503000000020004" pitchFamily="2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6552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1535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69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8993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3830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8691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5252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4493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1425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859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75974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7136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5775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91008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7242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49718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92912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11747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18207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46656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20921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12114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1270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840217" y="827592"/>
            <a:ext cx="3640180" cy="240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-FR" dirty="0"/>
              <a:t>Projet </a:t>
            </a:r>
            <a:r>
              <a:rPr lang="fr-FR" dirty="0" err="1"/>
              <a:t>DATAImmo</a:t>
            </a:r>
            <a:r>
              <a:rPr lang="fr-FR" dirty="0"/>
              <a:t> - Analyse des Transactions Immobilières en France (POC)</a:t>
            </a:r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504" y="3339977"/>
            <a:ext cx="3640754" cy="37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Rudy DESPLAN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/>
              <a:t>Contexte du projet</a:t>
            </a:r>
            <a:endParaRPr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C29D8-CC41-43B0-AF33-E02B4E8FB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Suivre l’évolution des prix au mètre carré.</a:t>
            </a:r>
          </a:p>
          <a:p>
            <a:r>
              <a:rPr lang="fr-FR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 les régions au marché immobilier le plus dynamique.</a:t>
            </a:r>
          </a:p>
          <a:p>
            <a:r>
              <a:rPr lang="fr-FR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Fournir des insights stratégiques pour orienter les décisions commerciales.</a:t>
            </a:r>
          </a:p>
          <a:p>
            <a:pPr marL="114300" indent="0"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7" y="156771"/>
            <a:ext cx="6045659" cy="4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Dictionnaire des données</a:t>
            </a:r>
            <a:endParaRPr b="0" dirty="0"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6A9FF4-E65B-DD51-DA35-D63740B5D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5" y="1455407"/>
            <a:ext cx="3068025" cy="3163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923E14-0B90-C821-F20A-BE27DE34F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839" y="2183311"/>
            <a:ext cx="3097161" cy="1791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E0FCE8-73CA-AA06-4CC2-2CDE5979D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397" y="1410558"/>
            <a:ext cx="2787205" cy="3337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1796947" y="102393"/>
            <a:ext cx="3460503" cy="45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Les données initiales</a:t>
            </a:r>
            <a:endParaRPr b="0" dirty="0"/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362C6D-212B-80C4-E7A4-BA573E00D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947" y="1990644"/>
            <a:ext cx="5353797" cy="581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3ED521-0AF2-4622-2521-F7269A05B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988" y="3258941"/>
            <a:ext cx="5744377" cy="581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B700F8-7E5B-53DA-95BF-79C964DDC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32382"/>
            <a:ext cx="9144000" cy="550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272012" y="102393"/>
            <a:ext cx="6135970" cy="475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algn="l"/>
            <a:r>
              <a:rPr lang="fr-FR" b="0" dirty="0">
                <a:solidFill>
                  <a:srgbClr val="271A38"/>
                </a:solidFill>
                <a:latin typeface="Inter" panose="02000503000000020004" pitchFamily="2" charset="0"/>
              </a:rPr>
              <a:t>L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a transformation des données </a:t>
            </a:r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DF0E5-6A16-8211-516D-88EE5D885E01}"/>
              </a:ext>
            </a:extLst>
          </p:cNvPr>
          <p:cNvSpPr txBox="1"/>
          <p:nvPr/>
        </p:nvSpPr>
        <p:spPr>
          <a:xfrm>
            <a:off x="228602" y="577800"/>
            <a:ext cx="855143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Approche ETL (</a:t>
            </a:r>
            <a:r>
              <a:rPr lang="fr-FR" b="1" dirty="0" err="1"/>
              <a:t>Extract-Transform-Load</a:t>
            </a:r>
            <a:r>
              <a:rPr lang="fr-FR" b="1" dirty="0"/>
              <a:t>) </a:t>
            </a:r>
            <a:r>
              <a:rPr lang="fr-FR" dirty="0"/>
              <a:t>:</a:t>
            </a:r>
            <a:br>
              <a:rPr lang="fr-FR" dirty="0"/>
            </a:br>
            <a:endParaRPr lang="fr-FR" dirty="0"/>
          </a:p>
          <a:p>
            <a:r>
              <a:rPr lang="fr-FR" dirty="0"/>
              <a:t>1. Extraction :  </a:t>
            </a:r>
          </a:p>
          <a:p>
            <a:r>
              <a:rPr lang="fr-FR" dirty="0"/>
              <a:t>   - 3 fichiers Excel → </a:t>
            </a:r>
            <a:r>
              <a:rPr lang="fr-FR" dirty="0" err="1"/>
              <a:t>DataFrames</a:t>
            </a:r>
            <a:r>
              <a:rPr lang="fr-FR" dirty="0"/>
              <a:t> pandas.  </a:t>
            </a:r>
          </a:p>
          <a:p>
            <a:r>
              <a:rPr lang="fr-FR" dirty="0"/>
              <a:t>   - Standardisation des codes (zéros initiaux).  </a:t>
            </a:r>
            <a:br>
              <a:rPr lang="fr-FR" dirty="0"/>
            </a:br>
            <a:endParaRPr lang="fr-FR" dirty="0"/>
          </a:p>
          <a:p>
            <a:r>
              <a:rPr lang="fr-FR" dirty="0"/>
              <a:t>2. Transformation :  </a:t>
            </a:r>
          </a:p>
          <a:p>
            <a:r>
              <a:rPr lang="fr-FR" dirty="0"/>
              <a:t>   - Jointures sur clés composites.  </a:t>
            </a:r>
          </a:p>
          <a:p>
            <a:r>
              <a:rPr lang="fr-FR" dirty="0"/>
              <a:t>   - Détection des biens uniques.  </a:t>
            </a:r>
            <a:br>
              <a:rPr lang="fr-FR" dirty="0"/>
            </a:br>
            <a:endParaRPr lang="fr-FR" dirty="0"/>
          </a:p>
          <a:p>
            <a:r>
              <a:rPr lang="fr-FR" dirty="0"/>
              <a:t>3. Export :  </a:t>
            </a:r>
          </a:p>
          <a:p>
            <a:r>
              <a:rPr lang="fr-FR" dirty="0"/>
              <a:t>   - 7 CSV normalisés (1 par table).  </a:t>
            </a:r>
          </a:p>
          <a:p>
            <a:r>
              <a:rPr lang="fr-FR" dirty="0"/>
              <a:t>   - Prêts pour import SQL.  </a:t>
            </a:r>
          </a:p>
          <a:p>
            <a:endParaRPr lang="fr-FR" dirty="0"/>
          </a:p>
          <a:p>
            <a:r>
              <a:rPr lang="fr-FR" dirty="0"/>
              <a:t>---- Points Clés :  </a:t>
            </a:r>
          </a:p>
          <a:p>
            <a:endParaRPr lang="fr-FR" dirty="0"/>
          </a:p>
          <a:p>
            <a:r>
              <a:rPr lang="fr-FR" dirty="0"/>
              <a:t>- Respect du schéma relationnel.  </a:t>
            </a:r>
          </a:p>
          <a:p>
            <a:r>
              <a:rPr lang="fr-FR" dirty="0"/>
              <a:t>- Robustesse (jointures `</a:t>
            </a:r>
            <a:r>
              <a:rPr lang="fr-FR" dirty="0" err="1"/>
              <a:t>left</a:t>
            </a:r>
            <a:r>
              <a:rPr lang="fr-FR" dirty="0"/>
              <a:t>`, gestion des NaN). </a:t>
            </a:r>
          </a:p>
          <a:p>
            <a:endParaRPr lang="fr-FR" dirty="0"/>
          </a:p>
          <a:p>
            <a:r>
              <a:rPr lang="fr-FR" b="1" dirty="0"/>
              <a:t>Normalisation</a:t>
            </a:r>
            <a:r>
              <a:rPr lang="fr-FR" dirty="0"/>
              <a:t> :</a:t>
            </a:r>
          </a:p>
          <a:p>
            <a:r>
              <a:rPr lang="fr-FR" dirty="0"/>
              <a:t>Respect des contraintes du schéma relationnel (clés primaires/étrangères, types de données).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Schéma relationnel normalisé</a:t>
            </a:r>
            <a:endParaRPr b="0" dirty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FB75D6-FEF9-DB7F-2BD9-F90D8738C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10" y="722489"/>
            <a:ext cx="2841722" cy="4421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163231" y="393837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 et les données chargées</a:t>
            </a:r>
            <a:endParaRPr b="0" dirty="0"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CA3AEE-5E2C-002A-A468-9F615D4BD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925" y="851632"/>
            <a:ext cx="5204178" cy="4179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297F94-3646-FB4E-1036-4F835C501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947" y="874671"/>
            <a:ext cx="1863683" cy="4156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Sous-titre</a:t>
            </a:r>
            <a:endParaRPr/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 : SQL Query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634246"/>
            <a:ext cx="6507141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Nombre total d'appartements vendus au 1er semestre 2020</a:t>
            </a:r>
            <a:endParaRPr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587719-713F-E453-6D66-DF36855D8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9259"/>
            <a:ext cx="9144000" cy="17249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634246"/>
            <a:ext cx="6507141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Nombre total d'appartements vendus au 1er semestre 2020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8AFBE-0A5B-9103-FB84-CF662D5C3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997" y="1084127"/>
            <a:ext cx="5611008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706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 : SQL Query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630141"/>
            <a:ext cx="5931408" cy="62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Nombre de ventes d'appartement par région pour le 1er semestre 2020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7B5DE-AF16-0804-F5E9-1F653F4B0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5762"/>
            <a:ext cx="9144000" cy="300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8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 : Resultat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630141"/>
            <a:ext cx="5931408" cy="62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Nombre de ventes d'appartement par région pour le 1er semestre 2020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C52CE3-8505-CFC6-A4CA-462C66DD8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778" y="988432"/>
            <a:ext cx="3568194" cy="415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6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 : SQL Query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613442"/>
            <a:ext cx="5479852" cy="63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400" dirty="0"/>
              <a:t>Proportion des ventes d'appartements par le nombre de pièces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BE779-E853-7A0C-A5FA-5A24EAB1A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0286"/>
            <a:ext cx="9144000" cy="255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87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613442"/>
            <a:ext cx="5479852" cy="63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400" dirty="0"/>
              <a:t>Proportion des ventes d'appartements par le nombre de pièces</a:t>
            </a: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631D6-94C5-086D-20B8-D382049DA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996" y="1002173"/>
            <a:ext cx="5414995" cy="414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05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 : SQL Query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618852"/>
            <a:ext cx="5920119" cy="62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Liste des 10 départements où le prix du mètre carré est le plus élevé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1C010-0F00-EF9A-4203-FFF99D84F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4187"/>
            <a:ext cx="9144000" cy="310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666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618852"/>
            <a:ext cx="5920119" cy="62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Liste des 10 départements où le prix du mètre carré est le plus élevé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BAFC4-7392-4D35-2A7B-FB937A336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1028568"/>
            <a:ext cx="5147459" cy="411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12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3979791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 : SQL Query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9" y="621183"/>
            <a:ext cx="5526447" cy="64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400" dirty="0"/>
              <a:t>Prix moyen du mètre carré d'une maison en Île-de-France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01B16-4A08-2A47-CAAB-AE156C57F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5846"/>
            <a:ext cx="9144000" cy="298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84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3979791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9" y="621183"/>
            <a:ext cx="5526447" cy="64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400" dirty="0"/>
              <a:t>Prix moyen du mètre carré d'une maison en Île-de-France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757BEE-0B08-74BC-7F26-8B4846F84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429" y="1247231"/>
            <a:ext cx="6801799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07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6249917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 : SQL Query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1" y="613445"/>
            <a:ext cx="5141186" cy="617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Liste des 10 appartements les plus chers avec la région et le nombre de mètres carrés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A53A4-0276-DA98-859A-CCAFF97EE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2633"/>
            <a:ext cx="9144000" cy="331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64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6249917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1" y="613445"/>
            <a:ext cx="5141186" cy="617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Liste des 10 appartements les plus chers avec la région et le nombre de mètres carrés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81D53-6A47-9D04-62E3-175621F2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192" y="1230488"/>
            <a:ext cx="4681884" cy="391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66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9" y="156771"/>
            <a:ext cx="521028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 : SQL Query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613443"/>
            <a:ext cx="5526447" cy="62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Taux d'évolution du nombre de ventes entre le premier et le second trimestre de 2020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6D2FA9-8E8C-1A75-0651-BF9F57BAB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8253"/>
            <a:ext cx="9144000" cy="360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63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9" y="156771"/>
            <a:ext cx="521028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613443"/>
            <a:ext cx="5526447" cy="62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Taux d'évolution du nombre de ventes entre le premier et le second trimestre de 2020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4902FE-6BAC-5A9A-C091-B99E5F896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866" y="1226618"/>
            <a:ext cx="5818351" cy="391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83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4973213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 : SQL Query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613445"/>
            <a:ext cx="5526447" cy="62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Classement des régions par rapport au prix au mètre carré des appartements de plus de 4 pièces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71319-B68A-A5E9-8A31-D38E2FD85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9592"/>
            <a:ext cx="9144000" cy="381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08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4973213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613445"/>
            <a:ext cx="5526447" cy="62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Classement des régions par rapport au prix au mètre carré des appartements de plus de 4 pièces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18C063-17E8-B978-7F59-C035F7F78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489" y="1185038"/>
            <a:ext cx="5188205" cy="39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11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9" y="156772"/>
            <a:ext cx="5526446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 : SQL Query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613445"/>
            <a:ext cx="5526447" cy="583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Liste des communes ayant eu au moins 50 ventes au 1er trimestre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F1B68-BB8E-2826-AD1B-C8D8E2614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6291"/>
            <a:ext cx="9144000" cy="271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77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9" y="156772"/>
            <a:ext cx="5526446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613445"/>
            <a:ext cx="5526447" cy="583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Liste des communes ayant eu au moins 50 ventes au 1er trimestre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42969B-062F-22BD-782D-1488C9510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643" y="971294"/>
            <a:ext cx="4620331" cy="417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04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5221570" cy="46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 : SQL Query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711201"/>
            <a:ext cx="5526447" cy="869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Différence en pourcentage du prix au mètre carré entre un appartement de 2 pièces et un appartement de 3 pièces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EF0613-F81A-E250-EA34-6E35A9356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473" y="1595109"/>
            <a:ext cx="6380593" cy="354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00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5221570" cy="46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28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711201"/>
            <a:ext cx="5526447" cy="869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Différence en pourcentage du prix au mètre carré entre un appartement de 2 pièces et un appartement de 3 pièces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B34F8-F554-FC0F-0F88-21A3965AC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243" y="1307011"/>
            <a:ext cx="5633155" cy="383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03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961925" cy="49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 : SQL Query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29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654757"/>
            <a:ext cx="5526447" cy="64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Moyennes de valeurs foncières pour le top 3 des communes des départements 6, 13, 33, 59 et 69</a:t>
            </a:r>
            <a:endParaRPr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3C778-4C2F-0C25-4A55-487A67C95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30" y="1239661"/>
            <a:ext cx="8229600" cy="387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89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961925" cy="49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654757"/>
            <a:ext cx="5526447" cy="64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Moyennes de valeurs foncières pour le top 3 des communes des départements 6, 13, 33, 59 et 69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B6D94-560F-2192-F3A1-45B05C712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996" y="1413868"/>
            <a:ext cx="3968381" cy="3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35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4318459" cy="418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 : SQL Query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575735"/>
            <a:ext cx="5526447" cy="92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20 communes avec le plus de transactions pour 1000 habitants pour les communes qui dépassent les 10 000 habitants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E4101-060F-1738-8611-96D276499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4" y="1905446"/>
            <a:ext cx="8926171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45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4318459" cy="418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 : Resultat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32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575735"/>
            <a:ext cx="5526447" cy="92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dirty="0"/>
              <a:t>20 communes avec le plus de transactions pour 1000 habitants pour les communes qui dépassent les 10 000 habitants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EB279D-9C92-3F80-E34B-85A2CE4CD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653" y="1162756"/>
            <a:ext cx="5323729" cy="398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66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804</Words>
  <Application>Microsoft Office PowerPoint</Application>
  <PresentationFormat>On-screen Show (16:9)</PresentationFormat>
  <Paragraphs>164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 Black</vt:lpstr>
      <vt:lpstr>Calibri</vt:lpstr>
      <vt:lpstr>Inter</vt:lpstr>
      <vt:lpstr>Arial</vt:lpstr>
      <vt:lpstr>Simple Light</vt:lpstr>
      <vt:lpstr>Thème Office</vt:lpstr>
      <vt:lpstr>Projet DATAImmo - Analyse des Transactions Immobilières en France (POC)</vt:lpstr>
      <vt:lpstr>Contexte du projet</vt:lpstr>
      <vt:lpstr>Dictionnaire des données</vt:lpstr>
      <vt:lpstr>Les données initiales</vt:lpstr>
      <vt:lpstr>La transformation des données </vt:lpstr>
      <vt:lpstr>Schéma relationnel normalisé</vt:lpstr>
      <vt:lpstr>La base de données avec les tables créée et les données chargées</vt:lpstr>
      <vt:lpstr>Requêtes SQL et résultats</vt:lpstr>
      <vt:lpstr>Requête 1 : SQL Query</vt:lpstr>
      <vt:lpstr>Requête 1 : Resultat</vt:lpstr>
      <vt:lpstr>Requête 2 : SQL Query</vt:lpstr>
      <vt:lpstr>Requête 2 : Resultat</vt:lpstr>
      <vt:lpstr>Requête 3 : SQL Query</vt:lpstr>
      <vt:lpstr>Requête 3 : Resultat</vt:lpstr>
      <vt:lpstr>Requête 4 : SQL Query</vt:lpstr>
      <vt:lpstr>Requête 4 : Resultat</vt:lpstr>
      <vt:lpstr>Requête 5 : SQL Query</vt:lpstr>
      <vt:lpstr>Requête 5 : Resultat</vt:lpstr>
      <vt:lpstr>Requête 6 : SQL Query</vt:lpstr>
      <vt:lpstr>Requête 6 : Resultat</vt:lpstr>
      <vt:lpstr>Requête 7 : SQL Query</vt:lpstr>
      <vt:lpstr>Requête 7 : Resultat</vt:lpstr>
      <vt:lpstr>Requête 8 : SQL Query</vt:lpstr>
      <vt:lpstr>Requête 8 : Resultat</vt:lpstr>
      <vt:lpstr>Requête 9 : SQL Query</vt:lpstr>
      <vt:lpstr>Requête 9 : Resultat</vt:lpstr>
      <vt:lpstr>Requête 10 : SQL Query</vt:lpstr>
      <vt:lpstr>Requête 10 : Resultat</vt:lpstr>
      <vt:lpstr>Requête 11 : SQL Query</vt:lpstr>
      <vt:lpstr>Requête 11 : Resultat</vt:lpstr>
      <vt:lpstr>Requête 12 : SQL Query</vt:lpstr>
      <vt:lpstr>Requête 12 : Resultat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Création et utilisation de la base de données</dc:title>
  <cp:lastModifiedBy>Rudy Desplan</cp:lastModifiedBy>
  <cp:revision>34</cp:revision>
  <dcterms:modified xsi:type="dcterms:W3CDTF">2025-06-19T08:07:00Z</dcterms:modified>
</cp:coreProperties>
</file>