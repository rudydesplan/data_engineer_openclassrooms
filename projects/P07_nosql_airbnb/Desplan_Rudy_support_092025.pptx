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5"/>
  </p:notesMasterIdLst>
  <p:sldIdLst>
    <p:sldId id="257" r:id="rId2"/>
    <p:sldId id="261" r:id="rId3"/>
    <p:sldId id="262" r:id="rId4"/>
    <p:sldId id="263" r:id="rId5"/>
    <p:sldId id="264" r:id="rId6"/>
    <p:sldId id="258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309" r:id="rId16"/>
    <p:sldId id="273" r:id="rId17"/>
    <p:sldId id="279" r:id="rId18"/>
    <p:sldId id="280" r:id="rId19"/>
    <p:sldId id="281" r:id="rId20"/>
    <p:sldId id="282" r:id="rId21"/>
    <p:sldId id="274" r:id="rId22"/>
    <p:sldId id="283" r:id="rId23"/>
    <p:sldId id="275" r:id="rId24"/>
    <p:sldId id="276" r:id="rId25"/>
    <p:sldId id="284" r:id="rId26"/>
    <p:sldId id="277" r:id="rId27"/>
    <p:sldId id="285" r:id="rId28"/>
    <p:sldId id="286" r:id="rId29"/>
    <p:sldId id="287" r:id="rId30"/>
    <p:sldId id="278" r:id="rId31"/>
    <p:sldId id="288" r:id="rId32"/>
    <p:sldId id="296" r:id="rId33"/>
    <p:sldId id="297" r:id="rId34"/>
    <p:sldId id="302" r:id="rId35"/>
    <p:sldId id="303" r:id="rId36"/>
    <p:sldId id="304" r:id="rId37"/>
    <p:sldId id="298" r:id="rId38"/>
    <p:sldId id="299" r:id="rId39"/>
    <p:sldId id="300" r:id="rId40"/>
    <p:sldId id="301" r:id="rId41"/>
    <p:sldId id="305" r:id="rId42"/>
    <p:sldId id="289" r:id="rId43"/>
    <p:sldId id="290" r:id="rId44"/>
    <p:sldId id="291" r:id="rId45"/>
    <p:sldId id="292" r:id="rId46"/>
    <p:sldId id="293" r:id="rId47"/>
    <p:sldId id="310" r:id="rId48"/>
    <p:sldId id="306" r:id="rId49"/>
    <p:sldId id="307" r:id="rId50"/>
    <p:sldId id="308" r:id="rId51"/>
    <p:sldId id="311" r:id="rId52"/>
    <p:sldId id="312" r:id="rId53"/>
    <p:sldId id="313" r:id="rId54"/>
  </p:sldIdLst>
  <p:sldSz cx="9144000" cy="5143500" type="screen16x9"/>
  <p:notesSz cx="6858000" cy="9144000"/>
  <p:embeddedFontLst>
    <p:embeddedFont>
      <p:font typeface="Inter" panose="02000503000000020004" pitchFamily="2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1f22bfd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1f22bfd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f22bfd9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f22bfd9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080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f22bfd9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18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20280" y="0"/>
            <a:ext cx="34950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Contexte du projet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0" y="959556"/>
            <a:ext cx="9144000" cy="4183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fr-FR" dirty="0"/>
              <a:t>Association </a:t>
            </a:r>
            <a:r>
              <a:rPr lang="fr-FR" i="1" dirty="0" err="1"/>
              <a:t>NosCités</a:t>
            </a:r>
            <a:r>
              <a:rPr lang="fr-FR" dirty="0"/>
              <a:t> → surveille les plateformes de location de courte durée (Paris, Lyon).</a:t>
            </a:r>
          </a:p>
          <a:p>
            <a:pPr marL="285750" indent="-285750">
              <a:spcAft>
                <a:spcPts val="1200"/>
              </a:spcAft>
            </a:pPr>
            <a:r>
              <a:rPr lang="fr-FR" dirty="0"/>
              <a:t>Objectif : analyser l’impact de ces plateformes sur l’offre de logements à Paris, notamment à l’approche des JO 2024</a:t>
            </a:r>
          </a:p>
          <a:p>
            <a:pPr marL="285750" indent="-285750">
              <a:spcAft>
                <a:spcPts val="1200"/>
              </a:spcAft>
            </a:pPr>
            <a:r>
              <a:rPr lang="fr-FR" dirty="0"/>
              <a:t>Situation : crash de la base Paris → nécessité de restaurer une sauvegarde disponible.</a:t>
            </a:r>
          </a:p>
          <a:p>
            <a:pPr marL="285750" indent="-285750">
              <a:spcAft>
                <a:spcPts val="1200"/>
              </a:spcAft>
            </a:pPr>
            <a:r>
              <a:rPr lang="fr-FR" dirty="0"/>
              <a:t>Enjeu : vérifier l’intégrité de la sauvegarde et exploiter les données pour informer le débat public.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5E0C-1FE2-D845-80C5-8831AACEA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/>
              <a:t>		</a:t>
            </a:r>
            <a:r>
              <a:rPr lang="fr-FR" sz="3100" dirty="0"/>
              <a:t>Importation des données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FBF7-31F6-FE90-D8CD-02E69842C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71852"/>
            <a:ext cx="8520600" cy="3893658"/>
          </a:xfrm>
        </p:spPr>
        <p:txBody>
          <a:bodyPr>
            <a:noAutofit/>
          </a:bodyPr>
          <a:lstStyle/>
          <a:p>
            <a:r>
              <a:rPr lang="fr-FR" sz="2200" dirty="0"/>
              <a:t>Sauvegarde disponible sous format CSV et dictionnaire de données associé.</a:t>
            </a:r>
          </a:p>
          <a:p>
            <a:endParaRPr lang="fr-FR" sz="2200" dirty="0"/>
          </a:p>
          <a:p>
            <a:r>
              <a:rPr lang="fr-FR" sz="2200" dirty="0"/>
              <a:t>Migration réalisée vers </a:t>
            </a:r>
            <a:r>
              <a:rPr lang="fr-FR" sz="2200" b="1" dirty="0"/>
              <a:t>MongoDB Atlas</a:t>
            </a:r>
            <a:r>
              <a:rPr lang="fr-FR" sz="2200" dirty="0"/>
              <a:t> (cloud.mongodb.com).</a:t>
            </a:r>
          </a:p>
          <a:p>
            <a:endParaRPr lang="fr-FR" sz="2200" dirty="0"/>
          </a:p>
          <a:p>
            <a:r>
              <a:rPr lang="fr-FR" sz="2200" dirty="0"/>
              <a:t>Utilisation de </a:t>
            </a:r>
            <a:r>
              <a:rPr lang="fr-FR" sz="2200" b="1" dirty="0"/>
              <a:t>MongoDB Compass (GUI)</a:t>
            </a:r>
            <a:r>
              <a:rPr lang="fr-FR" sz="2200" dirty="0"/>
              <a:t> :</a:t>
            </a:r>
          </a:p>
          <a:p>
            <a:pPr lvl="1">
              <a:buFont typeface="+mj-lt"/>
              <a:buAutoNum type="arabicPeriod"/>
            </a:pPr>
            <a:r>
              <a:rPr lang="en-US" sz="2200" dirty="0"/>
              <a:t>Menu </a:t>
            </a:r>
            <a:r>
              <a:rPr lang="en-US" sz="2200" b="1" dirty="0"/>
              <a:t>Add Data</a:t>
            </a:r>
            <a:r>
              <a:rPr lang="en-US" sz="2200" dirty="0"/>
              <a:t> → </a:t>
            </a:r>
            <a:r>
              <a:rPr lang="en-US" sz="2200" i="1" dirty="0"/>
              <a:t>Import JSON or CSV file</a:t>
            </a:r>
            <a:r>
              <a:rPr lang="en-US" sz="22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fr-FR" sz="2200" dirty="0"/>
              <a:t>Sélection du fichier listings_Paris.csv.</a:t>
            </a:r>
          </a:p>
          <a:p>
            <a:pPr lvl="1">
              <a:buFont typeface="+mj-lt"/>
              <a:buAutoNum type="arabicPeriod"/>
            </a:pPr>
            <a:r>
              <a:rPr lang="fr-FR" sz="2200" dirty="0"/>
              <a:t>Importation dans une collection MongoDB crée.</a:t>
            </a:r>
          </a:p>
          <a:p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154322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29B43F-5FFF-8AB3-4DEF-22257CB8A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09" y="183519"/>
            <a:ext cx="2381582" cy="1457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962E20-956C-FD68-0269-2BC8556D2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09" y="1784983"/>
            <a:ext cx="4494565" cy="317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5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52F589-E3E2-278D-3F1B-B77B4A9D9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3" y="94234"/>
            <a:ext cx="8869013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3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DFF01D-2482-8444-322D-122660F4D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21"/>
            <a:ext cx="9144000" cy="50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0" y="1027290"/>
            <a:ext cx="9143999" cy="28109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0" dirty="0"/>
              <a:t>Partie 1</a:t>
            </a:r>
            <a:endParaRPr sz="19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549B27-C5D2-0452-1D86-06F188262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776"/>
            <a:ext cx="7097115" cy="4001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B04CE2-2690-8940-2EF7-1012FC1DA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101" y="528352"/>
            <a:ext cx="3219899" cy="4086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D1BDDB-55D3-421E-45ED-7A0F54A6CD70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Exemple d’un document</a:t>
            </a:r>
          </a:p>
        </p:txBody>
      </p:sp>
    </p:spTree>
    <p:extLst>
      <p:ext uri="{BB962C8B-B14F-4D97-AF65-F5344CB8AC3E}">
        <p14:creationId xmlns:p14="http://schemas.microsoft.com/office/powerpoint/2010/main" val="58770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F173B3-9878-90E5-468E-7CE457E07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52" y="320389"/>
            <a:ext cx="3829584" cy="4096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565DEE-587C-626E-180D-A5DCED9AF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92207"/>
            <a:ext cx="3486637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6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83B6-A4A2-BF0E-C7A6-BCA43AD5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Schema</a:t>
            </a:r>
            <a:r>
              <a:rPr lang="fr-FR" dirty="0"/>
              <a:t> -&gt; Analyse ( MongoDB Compass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8F2A0-CC6F-0C97-3D4A-59C2285BF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4450"/>
            <a:ext cx="533474" cy="543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BD4EEE-55BC-693C-B29D-AF7F0BF85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8035"/>
            <a:ext cx="1409897" cy="533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9C9F6F-65CE-6290-013A-278399639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85825"/>
            <a:ext cx="962159" cy="714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ECB6BA-E76F-065E-8AA9-36C536E54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84616"/>
            <a:ext cx="1362265" cy="1552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497D83-851C-6111-77F9-24E0A5560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088" y="608822"/>
            <a:ext cx="1419423" cy="16480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9DBD74-E8B7-826C-B6AE-86ABF37372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088" y="2343062"/>
            <a:ext cx="2686425" cy="15718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EBC905-B108-CAF5-BF82-C99015568E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6191" y="591538"/>
            <a:ext cx="3934374" cy="15813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97961A-31D4-45DF-9B39-B1B621B980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6191" y="2395627"/>
            <a:ext cx="1933845" cy="15623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F0B6AA-10A4-1D91-0572-4C093181CE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6253" y="2401889"/>
            <a:ext cx="1381318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CC2556-89C3-B542-1B58-4050E7E4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4" y="90732"/>
            <a:ext cx="1952898" cy="1552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BAAC93-C737-A642-8F50-A803C8E40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4" y="1795354"/>
            <a:ext cx="1914792" cy="1552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C15234-9E75-56C4-0B0C-1EA3A722F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4" y="3499976"/>
            <a:ext cx="1781424" cy="14956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832ADE-E722-FA62-A5F1-00C38325F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179" y="90732"/>
            <a:ext cx="1724266" cy="14575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85A29A-20BB-1C2F-B686-1DBE0CEE40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6179" y="1795354"/>
            <a:ext cx="2191056" cy="14384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C454D6-825E-1F45-1618-9687DEAED5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6179" y="3333497"/>
            <a:ext cx="1629002" cy="18100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761A62-2E1E-139F-6DBD-9B9B6F2DC7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9872" y="67799"/>
            <a:ext cx="1495634" cy="14670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BFCC7E-B216-A3A0-00D3-6345230FA4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9872" y="1733836"/>
            <a:ext cx="952633" cy="14670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A1E1A2-0267-3673-7A1E-27D752AA10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872" y="3528938"/>
            <a:ext cx="2343477" cy="14480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673D0C9-5D55-4B8D-5E54-1105FF79D6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3239" y="72562"/>
            <a:ext cx="2343477" cy="14575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BE464F4-0FA1-53D4-2BFC-19271B7E5D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3239" y="1804880"/>
            <a:ext cx="2267266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07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9F9509-453F-8896-3859-93850F10A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5" y="120528"/>
            <a:ext cx="2067213" cy="14861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CC47E3-6302-D754-5E09-992C2CF62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5" y="1746149"/>
            <a:ext cx="2743583" cy="1448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D2A01E-771D-1882-8005-3EFF2D54C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5" y="3333665"/>
            <a:ext cx="2095792" cy="1524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6784DF-CA6A-E09D-FB5E-BB15E6F54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6496" y="73256"/>
            <a:ext cx="2105319" cy="145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9FAE3F-D9B8-BCBE-2D53-08431BD21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6496" y="1842986"/>
            <a:ext cx="2610214" cy="14575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C3A1BF-BBD4-04CB-6A7C-952F1D470A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6496" y="3522404"/>
            <a:ext cx="2010056" cy="14384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C3C135-2AC7-4AE3-20F9-D25483F151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0320" y="121755"/>
            <a:ext cx="1657581" cy="1514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417E0-C38E-BA05-37B9-75BFB5084D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0320" y="1842986"/>
            <a:ext cx="63826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16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B530-2DC1-4687-EBDB-0FCCA558E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</p:spPr>
        <p:txBody>
          <a:bodyPr>
            <a:noAutofit/>
          </a:bodyPr>
          <a:lstStyle/>
          <a:p>
            <a:pPr algn="ctr"/>
            <a:r>
              <a:rPr lang="fr-FR" sz="2400" dirty="0"/>
              <a:t>Avantages du NoSQL (MongoDB) dans ce contexte de données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4C2FD-7D5A-25CC-7C19-B8D4CDF59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74624"/>
            <a:ext cx="9144000" cy="4568876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Flexibilité du schéma :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Les annonces de locations ont des attributs très variés (prix, disponibilité, équipements, coordonnées hôtes…).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MongoDB permet de stocker ces données dans des </a:t>
            </a:r>
            <a:r>
              <a:rPr lang="fr-FR" b="1" dirty="0">
                <a:solidFill>
                  <a:schemeClr val="tx1"/>
                </a:solidFill>
              </a:rPr>
              <a:t>documents JSON</a:t>
            </a:r>
            <a:r>
              <a:rPr lang="fr-FR" dirty="0">
                <a:solidFill>
                  <a:schemeClr val="tx1"/>
                </a:solidFill>
              </a:rPr>
              <a:t> sans avoir à figer un schéma relationnel compliqué.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Idéal pour gérer l’hétérogénéité des données importées depuis CSV et leur évolution dans le temps.</a:t>
            </a:r>
          </a:p>
          <a:p>
            <a:pPr marL="11430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Gestion de données semi-structurées et imbriquées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 Les données de type localisation (coordonnées GPS), disponibilité (calendrier), ou informations hôte peuvent être stockées sous forme de </a:t>
            </a:r>
            <a:r>
              <a:rPr lang="fr-FR" b="1" dirty="0">
                <a:solidFill>
                  <a:schemeClr val="tx1"/>
                </a:solidFill>
              </a:rPr>
              <a:t>documents imbriqués</a:t>
            </a:r>
            <a:r>
              <a:rPr lang="fr-FR" dirty="0">
                <a:solidFill>
                  <a:schemeClr val="tx1"/>
                </a:solidFill>
              </a:rPr>
              <a:t> et de tableaux.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Cela évite la création de nombreuses tables et jointures complexes comme en SQL.</a:t>
            </a:r>
          </a:p>
          <a:p>
            <a:pPr marL="114300" indent="0">
              <a:buNone/>
            </a:pP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50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EDEFD-675D-EAF5-DA84-4F63545F0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Scalabilité et performance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MongoDB supporte le </a:t>
            </a:r>
            <a:r>
              <a:rPr lang="fr-FR" b="1" dirty="0" err="1">
                <a:solidFill>
                  <a:schemeClr val="tx1"/>
                </a:solidFill>
              </a:rPr>
              <a:t>sharding</a:t>
            </a:r>
            <a:r>
              <a:rPr lang="fr-FR" dirty="0">
                <a:solidFill>
                  <a:schemeClr val="tx1"/>
                </a:solidFill>
              </a:rPr>
              <a:t> (répartition des données sur plusieurs serveurs).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C’est adapté à un volume croissant d’annonces et d’historiques (surtout avec l’effet </a:t>
            </a:r>
            <a:r>
              <a:rPr lang="fr-FR" i="1" dirty="0">
                <a:solidFill>
                  <a:schemeClr val="tx1"/>
                </a:solidFill>
              </a:rPr>
              <a:t>Jeux Olympiques 2024</a:t>
            </a:r>
            <a:r>
              <a:rPr lang="fr-FR" dirty="0">
                <a:solidFill>
                  <a:schemeClr val="tx1"/>
                </a:solidFill>
              </a:rPr>
              <a:t>).</a:t>
            </a:r>
          </a:p>
          <a:p>
            <a:pPr marL="11430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r>
              <a:rPr lang="fr-FR" b="1" dirty="0">
                <a:solidFill>
                  <a:schemeClr val="tx1"/>
                </a:solidFill>
              </a:rPr>
              <a:t>Adapté aux analyses exploratoires rapides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On peut importer un CSV massif directement et requêter rapidement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L’outil </a:t>
            </a:r>
            <a:r>
              <a:rPr lang="fr-FR" b="1" dirty="0">
                <a:solidFill>
                  <a:schemeClr val="tx1"/>
                </a:solidFill>
              </a:rPr>
              <a:t>MongoDB Compass</a:t>
            </a:r>
            <a:r>
              <a:rPr lang="fr-FR" dirty="0">
                <a:solidFill>
                  <a:schemeClr val="tx1"/>
                </a:solidFill>
              </a:rPr>
              <a:t> facilite la visualisation des types de données et la détection d’anomalies.</a:t>
            </a:r>
          </a:p>
          <a:p>
            <a:pPr marL="11430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r>
              <a:rPr lang="fr-FR" b="1" dirty="0">
                <a:solidFill>
                  <a:schemeClr val="tx1"/>
                </a:solidFill>
              </a:rPr>
              <a:t>Résilience et sauvegardes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Contrairement au précédent crash de la base SQL, MongoDB peut être configuré en réplication avec haute disponibilité.</a:t>
            </a:r>
          </a:p>
          <a:p>
            <a:pPr marL="114300" indent="0">
              <a:buNone/>
            </a:pPr>
            <a:r>
              <a:rPr lang="fr-FR" dirty="0">
                <a:solidFill>
                  <a:schemeClr val="tx1"/>
                </a:solidFill>
              </a:rPr>
              <a:t>- Cela garantit la continuité du service même en cas d’incident serveur.</a:t>
            </a:r>
          </a:p>
          <a:p>
            <a:pPr marL="114300" indent="0">
              <a:buNone/>
            </a:pP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473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82A96-FDBA-C0EF-A5D7-CF4D8A14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5"/>
            <a:ext cx="88323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Premières </a:t>
            </a:r>
            <a:r>
              <a:rPr lang="fr-FR" dirty="0" err="1"/>
              <a:t>requetes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47F8D-51DA-5906-4AEA-7E92B3D46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3" y="731429"/>
            <a:ext cx="7087589" cy="790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7AD75F-7E07-E15E-6960-9DCB0E88E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3" y="2571750"/>
            <a:ext cx="8202170" cy="1829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F696EF-5030-9B7F-9CE5-3FB2B54CF9C4}"/>
              </a:ext>
            </a:extLst>
          </p:cNvPr>
          <p:cNvSpPr txBox="1"/>
          <p:nvPr/>
        </p:nvSpPr>
        <p:spPr>
          <a:xfrm>
            <a:off x="125093" y="2263973"/>
            <a:ext cx="4362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Nombre de logements avec des disponibilités ( </a:t>
            </a:r>
            <a:r>
              <a:rPr lang="fr-FR" dirty="0" err="1"/>
              <a:t>true</a:t>
            </a:r>
            <a:r>
              <a:rPr lang="fr-FR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683345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0" y="1027290"/>
            <a:ext cx="9143999" cy="28109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0" dirty="0"/>
              <a:t>Partie 2</a:t>
            </a:r>
            <a:endParaRPr sz="19000" dirty="0"/>
          </a:p>
        </p:txBody>
      </p:sp>
    </p:spTree>
    <p:extLst>
      <p:ext uri="{BB962C8B-B14F-4D97-AF65-F5344CB8AC3E}">
        <p14:creationId xmlns:p14="http://schemas.microsoft.com/office/powerpoint/2010/main" val="3207208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8D2C5-36C2-FF0A-1DB8-9016368CE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</p:spPr>
        <p:txBody>
          <a:bodyPr>
            <a:noAutofit/>
          </a:bodyPr>
          <a:lstStyle/>
          <a:p>
            <a:r>
              <a:rPr lang="fr-FR" sz="2400" dirty="0"/>
              <a:t>Requête : </a:t>
            </a:r>
            <a:r>
              <a:rPr lang="fr-FR" sz="2400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Combien d’annonces y a-t-il par type de location ?</a:t>
            </a:r>
            <a:endParaRPr lang="fr-FR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7D41A-EE00-7CED-8DD4-1C15BEFB5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62" y="1809308"/>
            <a:ext cx="3038899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2E30DA-0557-43E1-21F5-CEC4FC561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66" y="432942"/>
            <a:ext cx="2114845" cy="38486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FC873-7206-C6FE-9C48-CCEFBF0A6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713" y="442468"/>
            <a:ext cx="2695951" cy="38391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706690-140A-0999-6C37-37D82DFD6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5337" y="442468"/>
            <a:ext cx="2276793" cy="38391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2E1710-2061-18BE-6208-570546097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5337" y="4472400"/>
            <a:ext cx="2353003" cy="4572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867480-FACF-8A81-1691-660C59AD5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5713" y="4496216"/>
            <a:ext cx="1571844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97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80D9C9-E31D-A50C-3D0C-906A01DE6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9" y="88988"/>
            <a:ext cx="2152950" cy="3791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B1E605-69CD-2729-4CA5-06F7DF3D8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833" y="88988"/>
            <a:ext cx="2629267" cy="3839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5432C7-DC0C-A331-66EF-E904EC04C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414" y="136620"/>
            <a:ext cx="2724530" cy="37914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AE1E6F-C24D-D8C1-7A59-ACE2E23F6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833" y="4166631"/>
            <a:ext cx="1914792" cy="400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3C07D2-66B6-5486-BB56-97257635A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2414" y="4190447"/>
            <a:ext cx="1743318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66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FDB991-781C-4407-B31B-33B63A4C4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62" y="125856"/>
            <a:ext cx="2495898" cy="3762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D443AB-EE0D-FFA7-4C5E-B6826EE89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995" y="125856"/>
            <a:ext cx="2314898" cy="3753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84CEBE-7340-F2C1-9960-8612FEECB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828" y="125856"/>
            <a:ext cx="2810267" cy="3858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A68CF0-83D8-2809-42D9-697530D65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995" y="4142290"/>
            <a:ext cx="1219370" cy="381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81201C-9816-2FC0-DDF5-FE61CF7A6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1828" y="4142290"/>
            <a:ext cx="1476581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7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30C00B-DC35-172F-9DD0-C657BDB6E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32" y="243508"/>
            <a:ext cx="2534004" cy="3753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7C17AD-B852-A258-122A-90084F849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714" y="867482"/>
            <a:ext cx="2638793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7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42E3-41A3-34CC-37D6-EBDDD3BBE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91822"/>
          </a:xfrm>
        </p:spPr>
        <p:txBody>
          <a:bodyPr>
            <a:normAutofit fontScale="90000"/>
          </a:bodyPr>
          <a:lstStyle/>
          <a:p>
            <a:r>
              <a:rPr lang="fr-FR" sz="2700" dirty="0"/>
              <a:t>Requête : </a:t>
            </a:r>
            <a:r>
              <a:rPr lang="fr-FR" sz="2700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Quelles sont les 5 annonces de location avec le plus d’évaluations ? Et combien d’évaluations ont-elles ?</a:t>
            </a:r>
            <a:br>
              <a:rPr lang="fr-FR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</a:b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8E87CD-B685-D215-9EFF-B5A7793F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65" y="1581305"/>
            <a:ext cx="2715004" cy="2686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7EDE95-1F9A-13CF-9299-9D073599F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101" y="2014752"/>
            <a:ext cx="2572109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34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245380-EAC0-6746-C6E7-F84755752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952" y="130516"/>
            <a:ext cx="5401429" cy="2715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4F76EB-0800-A1E4-3C0F-2CA4CFCB5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952" y="3186698"/>
            <a:ext cx="4039164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15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A78C-4CFF-3575-7A73-E76ABFF94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/>
              <a:t>Requête : 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Quel est le nombre total d’hôtes différents ?</a:t>
            </a:r>
            <a:br>
              <a:rPr lang="fr-FR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</a:b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6E7A5-81AD-D393-5749-E050AFABE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15" y="1252249"/>
            <a:ext cx="3181794" cy="1600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741898-8DD3-E280-BAC3-66DEEAB36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844" y="1419064"/>
            <a:ext cx="2572109" cy="1152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89696B-A249-309C-1907-01DD2C323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637" y="3697111"/>
            <a:ext cx="2819794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38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729ED-06E5-D331-2287-DC5DD895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52475"/>
          </a:xfrm>
        </p:spPr>
        <p:txBody>
          <a:bodyPr>
            <a:noAutofit/>
          </a:bodyPr>
          <a:lstStyle/>
          <a:p>
            <a:r>
              <a:rPr lang="fr-FR" sz="2400" dirty="0"/>
              <a:t>Requête : </a:t>
            </a:r>
            <a:r>
              <a:rPr lang="fr-FR" sz="2400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Quel est le nombre de locations réservables instantanément ? Cela représente quelle proportion des annonces ? </a:t>
            </a:r>
            <a:endParaRPr lang="fr-FR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14E009-F0FF-4C70-7FD5-AD7406D0576E}"/>
              </a:ext>
            </a:extLst>
          </p:cNvPr>
          <p:cNvSpPr txBox="1"/>
          <p:nvPr/>
        </p:nvSpPr>
        <p:spPr>
          <a:xfrm>
            <a:off x="248356" y="1377244"/>
            <a:ext cx="4613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A. </a:t>
            </a:r>
            <a:r>
              <a:rPr lang="fr-FR" dirty="0">
                <a:solidFill>
                  <a:srgbClr val="271A38"/>
                </a:solidFill>
                <a:latin typeface="Inter" panose="02000503000000020004" pitchFamily="2" charset="0"/>
              </a:rPr>
              <a:t>N</a:t>
            </a:r>
            <a:r>
              <a:rPr lang="fr-FR" sz="1400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ombre de locations réservables instantanément</a:t>
            </a:r>
            <a:r>
              <a:rPr lang="fr-FR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CF298-CDAF-6D2F-C743-CCB735648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77" y="2041946"/>
            <a:ext cx="3686689" cy="1533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558E0B-6B5C-8B6C-C6DE-D09A17A22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971" y="2275340"/>
            <a:ext cx="2429214" cy="10669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2B7C11-35E9-C39D-2C99-6C79DEAC6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100" y="3936442"/>
            <a:ext cx="2981741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627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F44930-A240-5177-BCED-3B56C7C1495F}"/>
              </a:ext>
            </a:extLst>
          </p:cNvPr>
          <p:cNvSpPr txBox="1"/>
          <p:nvPr/>
        </p:nvSpPr>
        <p:spPr>
          <a:xfrm>
            <a:off x="204854" y="116286"/>
            <a:ext cx="48558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B. </a:t>
            </a:r>
            <a:r>
              <a:rPr lang="fr-FR" dirty="0">
                <a:solidFill>
                  <a:srgbClr val="271A38"/>
                </a:solidFill>
                <a:latin typeface="Inter" panose="02000503000000020004" pitchFamily="2" charset="0"/>
              </a:rPr>
              <a:t>Proportion</a:t>
            </a:r>
            <a:r>
              <a:rPr lang="fr-FR" sz="1400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 de locations réservables instantanément</a:t>
            </a:r>
            <a:r>
              <a:rPr lang="fr-FR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164FFD-D7AB-9D8A-5A3E-638E8740A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99" y="597471"/>
            <a:ext cx="4105848" cy="44297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974EE9-ABAC-2580-F92B-2C72AE610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731" y="717999"/>
            <a:ext cx="2534004" cy="11336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36872-98B9-3C79-C669-DE3844DBF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731" y="2571750"/>
            <a:ext cx="2886478" cy="12384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152E64-FACE-BE34-B17F-3E47770FEF0F}"/>
              </a:ext>
            </a:extLst>
          </p:cNvPr>
          <p:cNvSpPr txBox="1"/>
          <p:nvPr/>
        </p:nvSpPr>
        <p:spPr>
          <a:xfrm>
            <a:off x="6502401" y="4137205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23.044 %</a:t>
            </a:r>
          </a:p>
        </p:txBody>
      </p:sp>
    </p:spTree>
    <p:extLst>
      <p:ext uri="{BB962C8B-B14F-4D97-AF65-F5344CB8AC3E}">
        <p14:creationId xmlns:p14="http://schemas.microsoft.com/office/powerpoint/2010/main" val="3509448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EA50-721C-1BD2-9A6B-AF202ECEA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1230490"/>
          </a:xfrm>
        </p:spPr>
        <p:txBody>
          <a:bodyPr>
            <a:normAutofit fontScale="90000"/>
          </a:bodyPr>
          <a:lstStyle/>
          <a:p>
            <a:r>
              <a:rPr lang="fr-FR" dirty="0"/>
              <a:t>Requête : 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Est-ce que des hôtes ont plus de 100 annonces sur les plateformes ? Et si oui qui sont-ils ? Cela représente quel pourcentage des hôtes ?</a:t>
            </a:r>
            <a:br>
              <a:rPr lang="fr-FR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</a:br>
            <a:endParaRPr lang="fr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9EA23D-31E1-F287-BCF0-36B4BF527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37" y="1733074"/>
            <a:ext cx="3848637" cy="34104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AFCA64-1217-4CDA-51DC-3AFC6979A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865" y="2417292"/>
            <a:ext cx="2534004" cy="16861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AD8B1A-6B7E-EDE7-44C1-CA2DCBE8730F}"/>
              </a:ext>
            </a:extLst>
          </p:cNvPr>
          <p:cNvSpPr txBox="1"/>
          <p:nvPr/>
        </p:nvSpPr>
        <p:spPr>
          <a:xfrm>
            <a:off x="152837" y="1309511"/>
            <a:ext cx="5672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A. </a:t>
            </a:r>
            <a:r>
              <a:rPr lang="fr-FR" dirty="0" err="1"/>
              <a:t>Hotes</a:t>
            </a:r>
            <a:r>
              <a:rPr lang="fr-FR" dirty="0"/>
              <a:t> avec plus de 100 annonces</a:t>
            </a:r>
          </a:p>
        </p:txBody>
      </p:sp>
    </p:spTree>
    <p:extLst>
      <p:ext uri="{BB962C8B-B14F-4D97-AF65-F5344CB8AC3E}">
        <p14:creationId xmlns:p14="http://schemas.microsoft.com/office/powerpoint/2010/main" val="3949967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84F3FD-6614-A145-22AF-61543DBC5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89" y="483385"/>
            <a:ext cx="2629267" cy="3905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394A2E-8DDA-5FFA-1CC2-D49E12029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393" y="483385"/>
            <a:ext cx="2067213" cy="39248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DC7007-3067-1EAA-333C-2FF0A7EC3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637" y="483385"/>
            <a:ext cx="2095792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20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CD8FD-9D07-787E-737C-FD3E68B9F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334" y="480386"/>
            <a:ext cx="1667108" cy="3934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A975AC-3591-33FA-4141-32718CE4A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760" y="1033248"/>
            <a:ext cx="1914792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07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8D2AC6-ADFD-2CF6-7F9F-89EFB6CD0697}"/>
              </a:ext>
            </a:extLst>
          </p:cNvPr>
          <p:cNvSpPr txBox="1"/>
          <p:nvPr/>
        </p:nvSpPr>
        <p:spPr>
          <a:xfrm>
            <a:off x="214489" y="79022"/>
            <a:ext cx="4820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B. Pourcentage de ces </a:t>
            </a:r>
            <a:r>
              <a:rPr lang="fr-FR" dirty="0" err="1"/>
              <a:t>hotes</a:t>
            </a:r>
            <a:r>
              <a:rPr lang="fr-FR" dirty="0"/>
              <a:t> avec plus de 100 annonces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1F8530-2F52-C457-9B32-8ECA1937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5" y="434682"/>
            <a:ext cx="4934639" cy="4629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428240-C4FF-5DE1-EA39-24808B1AD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286" y="386799"/>
            <a:ext cx="2591162" cy="1819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818D9F-6CA6-3898-F30A-F3C382EB1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944" y="3113343"/>
            <a:ext cx="3019846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81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AC1E0-5ECB-ECC6-9F68-59EEF157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36978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Requete</a:t>
            </a:r>
            <a:r>
              <a:rPr lang="fr-FR" dirty="0"/>
              <a:t> : 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Combien y a-t-il de super hôtes différents ? Cela représente quel pourcentage des hôtes ?</a:t>
            </a:r>
            <a:br>
              <a:rPr lang="fr-FR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</a:b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08D75-FB56-C2E6-29D2-2A7CEC863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91" y="1996015"/>
            <a:ext cx="3362794" cy="2324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05A8A6-EB41-4458-75CD-75B6B2E1F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893" y="1138646"/>
            <a:ext cx="2219635" cy="1714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FB25C8-5CFF-C6C5-106A-3D0D588B9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612" y="3623483"/>
            <a:ext cx="2934109" cy="10574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685A6E-5E1D-C160-34EE-30A1A8432679}"/>
              </a:ext>
            </a:extLst>
          </p:cNvPr>
          <p:cNvSpPr txBox="1"/>
          <p:nvPr/>
        </p:nvSpPr>
        <p:spPr>
          <a:xfrm>
            <a:off x="101600" y="1138646"/>
            <a:ext cx="4334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A. Nombre de super </a:t>
            </a:r>
            <a:r>
              <a:rPr lang="fr-FR" dirty="0" err="1"/>
              <a:t>hotes</a:t>
            </a:r>
            <a:r>
              <a:rPr lang="fr-FR" dirty="0"/>
              <a:t> </a:t>
            </a:r>
            <a:r>
              <a:rPr lang="fr-FR" dirty="0" err="1"/>
              <a:t>differents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6534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DF2FE-FA86-D595-0A94-ED6764083E19}"/>
              </a:ext>
            </a:extLst>
          </p:cNvPr>
          <p:cNvSpPr txBox="1"/>
          <p:nvPr/>
        </p:nvSpPr>
        <p:spPr>
          <a:xfrm>
            <a:off x="395111" y="0"/>
            <a:ext cx="5192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B. Pourcentage de super </a:t>
            </a:r>
            <a:r>
              <a:rPr lang="fr-FR" dirty="0" err="1"/>
              <a:t>hotes</a:t>
            </a:r>
            <a:r>
              <a:rPr lang="fr-FR" dirty="0"/>
              <a:t> différents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EB2008-6C2D-C8E5-8633-A281304D9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8" y="323177"/>
            <a:ext cx="5201376" cy="48203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072D42-2A4E-3A02-9C11-EE9209057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726" y="307777"/>
            <a:ext cx="1705213" cy="1695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1857F8-0F41-EB2A-18D4-7E9547BF0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969587"/>
            <a:ext cx="3219899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70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185DC67-3874-1620-4653-E3341B7A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620888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Utilisation de </a:t>
            </a:r>
            <a:r>
              <a:rPr lang="fr-FR" dirty="0" err="1"/>
              <a:t>PyMongo</a:t>
            </a:r>
            <a:r>
              <a:rPr lang="fr-FR" dirty="0"/>
              <a:t> , </a:t>
            </a:r>
            <a:r>
              <a:rPr lang="fr-FR" dirty="0" err="1"/>
              <a:t>PyMongoArrow</a:t>
            </a:r>
            <a:r>
              <a:rPr lang="fr-FR" dirty="0"/>
              <a:t> et Polars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31DDDD-A750-3FEE-840F-F7C9DF951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05" y="776518"/>
            <a:ext cx="7811590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24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61CF-D70C-81BC-99CA-A592C16C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699910"/>
          </a:xfrm>
        </p:spPr>
        <p:txBody>
          <a:bodyPr>
            <a:normAutofit/>
          </a:bodyPr>
          <a:lstStyle/>
          <a:p>
            <a:pPr algn="ctr"/>
            <a:r>
              <a:rPr lang="fr-FR" sz="2100" dirty="0"/>
              <a:t>Requête : </a:t>
            </a:r>
            <a:r>
              <a:rPr lang="fr-FR" sz="2100" dirty="0">
                <a:solidFill>
                  <a:srgbClr val="271A38"/>
                </a:solidFill>
                <a:latin typeface="Inter" panose="02000503000000020004" pitchFamily="2" charset="0"/>
              </a:rPr>
              <a:t>T</a:t>
            </a:r>
            <a:r>
              <a:rPr lang="fr-FR" sz="2100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aux de réservation moyen par mois par type de logement</a:t>
            </a:r>
            <a:endParaRPr lang="fr-FR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83EA13-B0F5-C00C-1E37-5F04583DD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5" y="509110"/>
            <a:ext cx="7840169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522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438497-9D7D-5366-2964-EC747002B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916" y="309247"/>
            <a:ext cx="6754168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81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0B0EFF-C7D2-1DFD-721F-DB3EA712F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69" y="199694"/>
            <a:ext cx="6716062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2295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2F4275-4C8A-031F-DCC7-EC4026DF8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58" y="424929"/>
            <a:ext cx="6687483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85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7AA5-4175-0E74-32A5-A82A0E2F8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609599"/>
          </a:xfrm>
        </p:spPr>
        <p:txBody>
          <a:bodyPr>
            <a:normAutofit/>
          </a:bodyPr>
          <a:lstStyle/>
          <a:p>
            <a:pPr algn="ctr"/>
            <a:r>
              <a:rPr lang="fr-FR" sz="2200" dirty="0"/>
              <a:t>Requête : </a:t>
            </a:r>
            <a:r>
              <a:rPr lang="fr-FR" sz="2200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Médiane des nombre d’avis pour tous les logements</a:t>
            </a:r>
            <a:endParaRPr lang="fr-FR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55D08-BF44-6440-947B-8572059DD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6" y="523211"/>
            <a:ext cx="5696745" cy="4458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0D2931-1A0D-6950-4F28-8D54C211E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955" y="2157302"/>
            <a:ext cx="2934109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99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12858-D3CB-383E-33B7-0BD93E60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643466"/>
          </a:xfrm>
        </p:spPr>
        <p:txBody>
          <a:bodyPr>
            <a:normAutofit fontScale="90000"/>
          </a:bodyPr>
          <a:lstStyle/>
          <a:p>
            <a:r>
              <a:rPr lang="fr-FR" dirty="0"/>
              <a:t>Requête : </a:t>
            </a:r>
            <a:r>
              <a:rPr lang="fr-FR" dirty="0">
                <a:solidFill>
                  <a:srgbClr val="271A38"/>
                </a:solidFill>
                <a:latin typeface="Inter" panose="02000503000000020004" pitchFamily="2" charset="0"/>
              </a:rPr>
              <a:t>M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édiane des nombre d’avis par catégorie d’hôte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20CDB-1DB0-F1D8-A8AF-A4FA6AAAC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26" y="541866"/>
            <a:ext cx="4181849" cy="45000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13385A-4D30-8CB2-CB90-E72F346C1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857" y="1955874"/>
            <a:ext cx="4239217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302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DC935-1054-D74C-1CE7-3B403ED0F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36978"/>
          </a:xfrm>
        </p:spPr>
        <p:txBody>
          <a:bodyPr>
            <a:normAutofit/>
          </a:bodyPr>
          <a:lstStyle/>
          <a:p>
            <a:r>
              <a:rPr lang="fr-FR" dirty="0"/>
              <a:t>Requête : </a:t>
            </a:r>
            <a:r>
              <a:rPr lang="fr-FR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Densité de logements par quartier de Paris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FCAB3-2DEB-AA27-AEFB-B736CE64A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78" y="554368"/>
            <a:ext cx="4622385" cy="4589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DE603B-9F07-E583-EDA5-EDBD6DB2B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496" y="886509"/>
            <a:ext cx="4029637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194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5119C-C75E-6851-9424-0F4E1C47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632177"/>
          </a:xfrm>
        </p:spPr>
        <p:txBody>
          <a:bodyPr>
            <a:normAutofit/>
          </a:bodyPr>
          <a:lstStyle/>
          <a:p>
            <a:r>
              <a:rPr lang="fr-FR" sz="2000" dirty="0"/>
              <a:t>Requête : Top 5 </a:t>
            </a:r>
            <a:r>
              <a:rPr lang="fr-FR" sz="2000" b="0" i="0" dirty="0">
                <a:solidFill>
                  <a:srgbClr val="271A38"/>
                </a:solidFill>
                <a:effectLst/>
                <a:latin typeface="Inter" panose="02000503000000020004" pitchFamily="2" charset="0"/>
              </a:rPr>
              <a:t>quartiers avec le plus fort taux de réservation par mois</a:t>
            </a:r>
            <a:endParaRPr lang="fr-FR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59E10F-F5A0-7070-7C24-834436C93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756" y="462844"/>
            <a:ext cx="4349223" cy="468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657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981915-F5F1-D684-5D95-C834EF292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289" y="289824"/>
            <a:ext cx="7044167" cy="451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699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E48E0F-9B45-2396-D73E-DD4DA2169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44" y="558704"/>
            <a:ext cx="4730808" cy="4584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E857EF-130C-DD20-9A81-6D02EB04D058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Connexion a </a:t>
            </a:r>
            <a:r>
              <a:rPr lang="fr-FR" sz="2400" b="1" dirty="0" err="1"/>
              <a:t>PowerBI</a:t>
            </a:r>
            <a:r>
              <a:rPr lang="fr-FR" sz="2400" b="1" dirty="0"/>
              <a:t> avec MongoDB Atlas </a:t>
            </a:r>
            <a:r>
              <a:rPr lang="fr-FR" sz="2400" b="1" dirty="0" err="1"/>
              <a:t>Connector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3026646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B6E5F-B5E5-DA25-788B-8ACFA33D1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303" y="0"/>
            <a:ext cx="646739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9877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0909C3-A827-CEEA-2BAB-AF778564D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28" y="0"/>
            <a:ext cx="80641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609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0B6CF3-9F08-9471-C578-78F9DDA9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" y="61562"/>
            <a:ext cx="9107171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368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CAC0B8-63FB-135F-79CF-95F3266E6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893"/>
            <a:ext cx="9144000" cy="478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6227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0" y="1027290"/>
            <a:ext cx="9143999" cy="28109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0" dirty="0"/>
              <a:t>Partie 3</a:t>
            </a:r>
            <a:endParaRPr sz="19000" dirty="0"/>
          </a:p>
        </p:txBody>
      </p:sp>
    </p:spTree>
    <p:extLst>
      <p:ext uri="{BB962C8B-B14F-4D97-AF65-F5344CB8AC3E}">
        <p14:creationId xmlns:p14="http://schemas.microsoft.com/office/powerpoint/2010/main" val="9356491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B4CA79-C496-B787-0C35-16D1076B8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5696"/>
            <a:ext cx="9144000" cy="3008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CAAE51-5CC3-9D48-9848-DB971F2A3F24}"/>
              </a:ext>
            </a:extLst>
          </p:cNvPr>
          <p:cNvSpPr txBox="1"/>
          <p:nvPr/>
        </p:nvSpPr>
        <p:spPr>
          <a:xfrm>
            <a:off x="0" y="33867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		Outil BI (A1)</a:t>
            </a:r>
            <a:r>
              <a:rPr lang="it-IT" dirty="0"/>
              <a:t> → interroge le cluster via </a:t>
            </a:r>
            <a:r>
              <a:rPr lang="it-IT" b="1" dirty="0"/>
              <a:t>mongos</a:t>
            </a:r>
            <a:r>
              <a:rPr lang="it-IT" dirty="0"/>
              <a:t>.</a:t>
            </a:r>
          </a:p>
          <a:p>
            <a:r>
              <a:rPr lang="fr-FR" b="1" dirty="0"/>
              <a:t>		mongos (R1)</a:t>
            </a:r>
            <a:r>
              <a:rPr lang="fr-FR" dirty="0"/>
              <a:t> → distribue les requêtes vers les </a:t>
            </a:r>
            <a:r>
              <a:rPr lang="fr-FR" b="1" dirty="0" err="1"/>
              <a:t>shards</a:t>
            </a:r>
            <a:r>
              <a:rPr lang="fr-FR" dirty="0"/>
              <a:t>.</a:t>
            </a:r>
            <a:endParaRPr lang="it-IT" dirty="0"/>
          </a:p>
          <a:p>
            <a:r>
              <a:rPr lang="fr-FR" b="1" dirty="0"/>
              <a:t>		Config Servers (C1, C2, C3)</a:t>
            </a:r>
            <a:r>
              <a:rPr lang="fr-FR" dirty="0"/>
              <a:t> → stockent les métadonnées de distribution.</a:t>
            </a:r>
            <a:endParaRPr lang="it-IT" dirty="0"/>
          </a:p>
          <a:p>
            <a:r>
              <a:rPr lang="fr-FR" b="1" dirty="0"/>
              <a:t>		Chaque </a:t>
            </a:r>
            <a:r>
              <a:rPr lang="fr-FR" b="1" dirty="0" err="1"/>
              <a:t>shard</a:t>
            </a:r>
            <a:r>
              <a:rPr lang="fr-FR" dirty="0"/>
              <a:t> (Shard1, Shard2, Shard3) est un </a:t>
            </a:r>
            <a:r>
              <a:rPr lang="fr-FR" b="1" dirty="0" err="1"/>
              <a:t>replica</a:t>
            </a:r>
            <a:r>
              <a:rPr lang="fr-FR" b="1" dirty="0"/>
              <a:t> set</a:t>
            </a:r>
            <a:r>
              <a:rPr lang="fr-FR" dirty="0"/>
              <a:t> :</a:t>
            </a:r>
          </a:p>
          <a:p>
            <a:pPr lvl="3"/>
            <a:r>
              <a:rPr lang="fr-FR" b="1" dirty="0"/>
              <a:t>			- </a:t>
            </a:r>
            <a:r>
              <a:rPr lang="fr-FR" b="1" dirty="0" err="1"/>
              <a:t>Primary</a:t>
            </a:r>
            <a:r>
              <a:rPr lang="fr-FR" dirty="0"/>
              <a:t> (écritures, lectures par défaut).</a:t>
            </a:r>
          </a:p>
          <a:p>
            <a:r>
              <a:rPr lang="fr-FR" b="1" dirty="0"/>
              <a:t>			- </a:t>
            </a:r>
            <a:r>
              <a:rPr lang="fr-FR" b="1" dirty="0" err="1"/>
              <a:t>Secondaries</a:t>
            </a:r>
            <a:r>
              <a:rPr lang="fr-FR" dirty="0"/>
              <a:t> (réplication, lectures si configurées).</a:t>
            </a:r>
          </a:p>
        </p:txBody>
      </p:sp>
    </p:spTree>
    <p:extLst>
      <p:ext uri="{BB962C8B-B14F-4D97-AF65-F5344CB8AC3E}">
        <p14:creationId xmlns:p14="http://schemas.microsoft.com/office/powerpoint/2010/main" val="22614123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24A2D-888B-89F6-8A43-1ACF2DAA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/>
              <a:t>1. Processus de réplication (</a:t>
            </a:r>
            <a:r>
              <a:rPr lang="fr-FR" dirty="0" err="1"/>
              <a:t>Replica</a:t>
            </a:r>
            <a:r>
              <a:rPr lang="fr-FR" dirty="0"/>
              <a:t> Sets)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F1001C-D93A-F021-CBFF-1A5AADB2E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36" y="574625"/>
            <a:ext cx="7716327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4298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FF90-D2FD-FB3C-5A03-C1F9967E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/>
              <a:t>2. Processus de distribution des données (</a:t>
            </a:r>
            <a:r>
              <a:rPr lang="fr-FR" dirty="0" err="1"/>
              <a:t>Sharding</a:t>
            </a:r>
            <a:r>
              <a:rPr lang="fr-FR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98121-8D2C-CCAE-43EE-87880385A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89" y="679681"/>
            <a:ext cx="7678222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000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1051-3C2C-4609-F681-995B9E8A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25"/>
            <a:ext cx="8520600" cy="472208"/>
          </a:xfrm>
        </p:spPr>
        <p:txBody>
          <a:bodyPr>
            <a:normAutofit fontScale="90000"/>
          </a:bodyPr>
          <a:lstStyle/>
          <a:p>
            <a:r>
              <a:rPr lang="fr-FR" dirty="0"/>
              <a:t>3. Logigramme Sécurité &amp;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7600D0-DB54-8C92-E6B5-2FA7FEC00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1359"/>
            <a:ext cx="9144000" cy="2150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F656D-B612-40DF-09AD-2AA7F4A3B786}"/>
              </a:ext>
            </a:extLst>
          </p:cNvPr>
          <p:cNvSpPr txBox="1"/>
          <p:nvPr/>
        </p:nvSpPr>
        <p:spPr>
          <a:xfrm>
            <a:off x="0" y="574625"/>
            <a:ext cx="9144000" cy="2455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300" dirty="0"/>
              <a:t>Stratégie de réplication 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300" b="1" dirty="0"/>
              <a:t>But :</a:t>
            </a:r>
            <a:r>
              <a:rPr lang="fr-FR" sz="1300" dirty="0"/>
              <a:t> assurer la </a:t>
            </a:r>
            <a:r>
              <a:rPr lang="fr-FR" sz="1300" b="1" dirty="0"/>
              <a:t>haute disponibilité</a:t>
            </a:r>
            <a:r>
              <a:rPr lang="fr-FR" sz="1300" dirty="0"/>
              <a:t> et éviter toute perte de données.</a:t>
            </a:r>
          </a:p>
          <a:p>
            <a:pPr>
              <a:lnSpc>
                <a:spcPct val="150000"/>
              </a:lnSpc>
            </a:pPr>
            <a:r>
              <a:rPr lang="fr-FR" sz="1300" dirty="0"/>
              <a:t>Stratégie de </a:t>
            </a:r>
            <a:r>
              <a:rPr lang="fr-FR" sz="1300" dirty="0" err="1"/>
              <a:t>sharding</a:t>
            </a:r>
            <a:r>
              <a:rPr lang="fr-FR" sz="1300" dirty="0"/>
              <a:t> :</a:t>
            </a:r>
            <a:r>
              <a:rPr lang="fr-FR" sz="1300" b="1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300" b="1" dirty="0"/>
              <a:t>But :</a:t>
            </a:r>
            <a:r>
              <a:rPr lang="fr-FR" sz="1300" dirty="0"/>
              <a:t> améliorer la </a:t>
            </a:r>
            <a:r>
              <a:rPr lang="fr-FR" sz="1300" b="1" dirty="0"/>
              <a:t>scalabilité horizontale</a:t>
            </a:r>
            <a:r>
              <a:rPr lang="fr-FR" sz="1300" dirty="0"/>
              <a:t> et réduire la latence.</a:t>
            </a:r>
          </a:p>
          <a:p>
            <a:pPr>
              <a:lnSpc>
                <a:spcPct val="150000"/>
              </a:lnSpc>
            </a:pPr>
            <a:r>
              <a:rPr lang="fr-FR" sz="1300" dirty="0"/>
              <a:t>Sécurité des données 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300" b="1" dirty="0"/>
              <a:t>But :</a:t>
            </a:r>
            <a:r>
              <a:rPr lang="fr-FR" sz="1300" dirty="0"/>
              <a:t> garantir </a:t>
            </a:r>
            <a:r>
              <a:rPr lang="fr-FR" sz="1300" b="1" dirty="0"/>
              <a:t>confidentialité, intégrité et conformité</a:t>
            </a:r>
            <a:r>
              <a:rPr lang="fr-FR" sz="1300" dirty="0"/>
              <a:t>.</a:t>
            </a:r>
          </a:p>
          <a:p>
            <a:pPr>
              <a:lnSpc>
                <a:spcPct val="150000"/>
              </a:lnSpc>
            </a:pPr>
            <a:r>
              <a:rPr lang="fr-FR" sz="1300" dirty="0"/>
              <a:t>Performance :</a:t>
            </a:r>
            <a:r>
              <a:rPr lang="fr-FR" sz="1300" b="1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300" b="1" dirty="0"/>
              <a:t>But :</a:t>
            </a:r>
            <a:r>
              <a:rPr lang="fr-FR" sz="1300" dirty="0"/>
              <a:t> assurer des temps de réponse optimaux pour les utilisateurs BI.</a:t>
            </a:r>
          </a:p>
        </p:txBody>
      </p:sp>
    </p:spTree>
    <p:extLst>
      <p:ext uri="{BB962C8B-B14F-4D97-AF65-F5344CB8AC3E}">
        <p14:creationId xmlns:p14="http://schemas.microsoft.com/office/powerpoint/2010/main" val="2795118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79FF5-ACA5-2301-D3FE-A311F54F2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53" y="207670"/>
            <a:ext cx="6582694" cy="1657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42E16A-F4B0-7189-61C7-3B355DA7E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27" y="2571750"/>
            <a:ext cx="5182323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778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F03E09-82B0-2454-8AEE-31B659CAC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59" y="394294"/>
            <a:ext cx="4906060" cy="1600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23AD42-78C3-23BE-65A9-39BFFD4F3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59" y="2672886"/>
            <a:ext cx="5306165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9512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780</Words>
  <Application>Microsoft Office PowerPoint</Application>
  <PresentationFormat>On-screen Show (16:9)</PresentationFormat>
  <Paragraphs>78</Paragraphs>
  <Slides>53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Inter</vt:lpstr>
      <vt:lpstr>Simple Light</vt:lpstr>
      <vt:lpstr>Contexte du projet</vt:lpstr>
      <vt:lpstr>  Importation des données :</vt:lpstr>
      <vt:lpstr>PowerPoint Presentation</vt:lpstr>
      <vt:lpstr>PowerPoint Presentation</vt:lpstr>
      <vt:lpstr>PowerPoint Presentation</vt:lpstr>
      <vt:lpstr>Partie 1</vt:lpstr>
      <vt:lpstr>PowerPoint Presentation</vt:lpstr>
      <vt:lpstr>PowerPoint Presentation</vt:lpstr>
      <vt:lpstr>Schema -&gt; Analyse ( MongoDB Compass )</vt:lpstr>
      <vt:lpstr>PowerPoint Presentation</vt:lpstr>
      <vt:lpstr>PowerPoint Presentation</vt:lpstr>
      <vt:lpstr>Avantages du NoSQL (MongoDB) dans ce contexte de données</vt:lpstr>
      <vt:lpstr>PowerPoint Presentation</vt:lpstr>
      <vt:lpstr>Premières requetes</vt:lpstr>
      <vt:lpstr>Partie 2</vt:lpstr>
      <vt:lpstr>Requête : Combien d’annonces y a-t-il par type de location ?</vt:lpstr>
      <vt:lpstr>PowerPoint Presentation</vt:lpstr>
      <vt:lpstr>PowerPoint Presentation</vt:lpstr>
      <vt:lpstr>PowerPoint Presentation</vt:lpstr>
      <vt:lpstr>PowerPoint Presentation</vt:lpstr>
      <vt:lpstr>Requête : Quelles sont les 5 annonces de location avec le plus d’évaluations ? Et combien d’évaluations ont-elles ? </vt:lpstr>
      <vt:lpstr>PowerPoint Presentation</vt:lpstr>
      <vt:lpstr>Requête : Quel est le nombre total d’hôtes différents ? </vt:lpstr>
      <vt:lpstr>Requête : Quel est le nombre de locations réservables instantanément ? Cela représente quelle proportion des annonces ? </vt:lpstr>
      <vt:lpstr>PowerPoint Presentation</vt:lpstr>
      <vt:lpstr>Requête : Est-ce que des hôtes ont plus de 100 annonces sur les plateformes ? Et si oui qui sont-ils ? Cela représente quel pourcentage des hôtes ? </vt:lpstr>
      <vt:lpstr>PowerPoint Presentation</vt:lpstr>
      <vt:lpstr>PowerPoint Presentation</vt:lpstr>
      <vt:lpstr>PowerPoint Presentation</vt:lpstr>
      <vt:lpstr>Requete : Combien y a-t-il de super hôtes différents ? Cela représente quel pourcentage des hôtes ? </vt:lpstr>
      <vt:lpstr>PowerPoint Presentation</vt:lpstr>
      <vt:lpstr>Utilisation de PyMongo , PyMongoArrow et Polars</vt:lpstr>
      <vt:lpstr>Requête : Taux de réservation moyen par mois par type de logement</vt:lpstr>
      <vt:lpstr>PowerPoint Presentation</vt:lpstr>
      <vt:lpstr>PowerPoint Presentation</vt:lpstr>
      <vt:lpstr>PowerPoint Presentation</vt:lpstr>
      <vt:lpstr>Requête : Médiane des nombre d’avis pour tous les logements</vt:lpstr>
      <vt:lpstr>Requête : Médiane des nombre d’avis par catégorie d’hôte</vt:lpstr>
      <vt:lpstr>Requête : Densité de logements par quartier de Paris</vt:lpstr>
      <vt:lpstr>Requête : Top 5 quartiers avec le plus fort taux de réservation par mois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Partie 3</vt:lpstr>
      <vt:lpstr>PowerPoint Presentation</vt:lpstr>
      <vt:lpstr>1. Processus de réplication (Replica Sets)</vt:lpstr>
      <vt:lpstr>2. Processus de distribution des données (Sharding)</vt:lpstr>
      <vt:lpstr>3. Logigramme Sécurité &amp; Performance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présentation du projet 7</dc:title>
  <cp:lastModifiedBy>Rudy Desplan</cp:lastModifiedBy>
  <cp:revision>69</cp:revision>
  <dcterms:modified xsi:type="dcterms:W3CDTF">2025-09-17T09:06:00Z</dcterms:modified>
</cp:coreProperties>
</file>