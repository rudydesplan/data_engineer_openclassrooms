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74" r:id="rId9"/>
    <p:sldId id="269" r:id="rId10"/>
    <p:sldId id="271" r:id="rId11"/>
    <p:sldId id="273" r:id="rId12"/>
    <p:sldId id="272" r:id="rId13"/>
    <p:sldId id="275" r:id="rId14"/>
    <p:sldId id="276" r:id="rId15"/>
    <p:sldId id="277" r:id="rId16"/>
    <p:sldId id="279" r:id="rId17"/>
    <p:sldId id="278" r:id="rId18"/>
    <p:sldId id="280" r:id="rId19"/>
    <p:sldId id="281" r:id="rId20"/>
    <p:sldId id="284" r:id="rId21"/>
    <p:sldId id="282" r:id="rId22"/>
    <p:sldId id="285" r:id="rId23"/>
    <p:sldId id="287" r:id="rId24"/>
    <p:sldId id="289" r:id="rId25"/>
    <p:sldId id="294" r:id="rId26"/>
    <p:sldId id="305" r:id="rId27"/>
    <p:sldId id="306" r:id="rId28"/>
    <p:sldId id="307" r:id="rId29"/>
    <p:sldId id="286" r:id="rId30"/>
    <p:sldId id="293" r:id="rId31"/>
    <p:sldId id="292" r:id="rId32"/>
    <p:sldId id="299" r:id="rId33"/>
    <p:sldId id="304" r:id="rId34"/>
    <p:sldId id="300" r:id="rId35"/>
    <p:sldId id="30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92202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Prédire</a:t>
            </a:r>
            <a:r>
              <a:rPr dirty="0"/>
              <a:t> CO₂ et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Énergétique</a:t>
            </a:r>
            <a:r>
              <a:rPr dirty="0"/>
              <a:t> des </a:t>
            </a:r>
            <a:r>
              <a:rPr dirty="0" err="1"/>
              <a:t>Bâtiments</a:t>
            </a:r>
            <a:r>
              <a:rPr dirty="0"/>
              <a:t> Non </a:t>
            </a:r>
            <a:r>
              <a:rPr dirty="0" err="1"/>
              <a:t>Résidentiels</a:t>
            </a:r>
            <a:r>
              <a:rPr dirty="0"/>
              <a:t> – Seattle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Kick-off – Jeu de </a:t>
            </a:r>
            <a:r>
              <a:rPr dirty="0" err="1"/>
              <a:t>données</a:t>
            </a:r>
            <a:r>
              <a:rPr dirty="0"/>
              <a:t> 2016, </a:t>
            </a:r>
            <a:r>
              <a:rPr dirty="0" err="1"/>
              <a:t>objectif</a:t>
            </a:r>
            <a:r>
              <a:rPr dirty="0"/>
              <a:t> </a:t>
            </a:r>
            <a:r>
              <a:rPr dirty="0" err="1"/>
              <a:t>neutralité</a:t>
            </a:r>
            <a:r>
              <a:rPr dirty="0"/>
              <a:t> </a:t>
            </a:r>
            <a:r>
              <a:rPr dirty="0" err="1"/>
              <a:t>carbone</a:t>
            </a:r>
            <a:r>
              <a:rPr dirty="0"/>
              <a:t> 2050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Contexte</a:t>
            </a:r>
            <a:r>
              <a:rPr dirty="0"/>
              <a:t> &amp; </a:t>
            </a:r>
            <a:r>
              <a:rPr dirty="0" err="1"/>
              <a:t>Objectifs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Ville de Seattle : </a:t>
            </a:r>
            <a:r>
              <a:rPr dirty="0" err="1"/>
              <a:t>réduire</a:t>
            </a:r>
            <a:r>
              <a:rPr dirty="0"/>
              <a:t> </a:t>
            </a:r>
            <a:r>
              <a:rPr dirty="0" err="1"/>
              <a:t>coûts</a:t>
            </a:r>
            <a:r>
              <a:rPr dirty="0"/>
              <a:t> de </a:t>
            </a:r>
            <a:r>
              <a:rPr dirty="0" err="1"/>
              <a:t>mesure</a:t>
            </a:r>
            <a:r>
              <a:rPr dirty="0"/>
              <a:t> et </a:t>
            </a:r>
            <a:r>
              <a:rPr dirty="0" err="1"/>
              <a:t>accélérer</a:t>
            </a:r>
            <a:r>
              <a:rPr dirty="0"/>
              <a:t> les </a:t>
            </a:r>
            <a:r>
              <a:rPr dirty="0" err="1"/>
              <a:t>décisions</a:t>
            </a:r>
            <a:r>
              <a:rPr dirty="0"/>
              <a:t> </a:t>
            </a:r>
            <a:r>
              <a:rPr dirty="0" err="1"/>
              <a:t>publiques</a:t>
            </a:r>
            <a:br>
              <a:rPr lang="fr-FR" dirty="0"/>
            </a:br>
            <a:endParaRPr dirty="0"/>
          </a:p>
          <a:p>
            <a:r>
              <a:rPr dirty="0" err="1"/>
              <a:t>Cibles</a:t>
            </a:r>
            <a:r>
              <a:rPr dirty="0"/>
              <a:t> : </a:t>
            </a:r>
            <a:r>
              <a:rPr dirty="0" err="1"/>
              <a:t>Émissions</a:t>
            </a:r>
            <a:r>
              <a:rPr dirty="0"/>
              <a:t> de CO₂ (</a:t>
            </a:r>
            <a:r>
              <a:rPr dirty="0" err="1"/>
              <a:t>TotalGHGEmissions</a:t>
            </a:r>
            <a:r>
              <a:rPr dirty="0"/>
              <a:t>) et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énergétique</a:t>
            </a:r>
            <a:r>
              <a:rPr dirty="0"/>
              <a:t> (</a:t>
            </a:r>
            <a:r>
              <a:rPr dirty="0" err="1"/>
              <a:t>SiteEnergyUse</a:t>
            </a:r>
            <a:r>
              <a:rPr dirty="0"/>
              <a:t>)</a:t>
            </a:r>
            <a:br>
              <a:rPr lang="fr-FR" dirty="0"/>
            </a:br>
            <a:endParaRPr dirty="0"/>
          </a:p>
          <a:p>
            <a:r>
              <a:rPr dirty="0" err="1"/>
              <a:t>Portée</a:t>
            </a:r>
            <a:r>
              <a:rPr dirty="0"/>
              <a:t> : </a:t>
            </a:r>
            <a:r>
              <a:rPr dirty="0" err="1"/>
              <a:t>bâtiments</a:t>
            </a:r>
            <a:r>
              <a:rPr dirty="0"/>
              <a:t> non </a:t>
            </a:r>
            <a:r>
              <a:rPr dirty="0" err="1"/>
              <a:t>résidentiels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Jeu de </a:t>
            </a:r>
            <a:r>
              <a:rPr dirty="0" err="1"/>
              <a:t>données</a:t>
            </a:r>
            <a:r>
              <a:rPr dirty="0"/>
              <a:t> </a:t>
            </a:r>
            <a:br>
              <a:rPr lang="fr-FR" dirty="0"/>
            </a:br>
            <a:r>
              <a:rPr dirty="0"/>
              <a:t>(2016 Building Energy Benchmarking)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Variables </a:t>
            </a:r>
            <a:r>
              <a:rPr dirty="0" err="1"/>
              <a:t>structurelles</a:t>
            </a:r>
            <a:r>
              <a:rPr dirty="0"/>
              <a:t> : surface, usage, </a:t>
            </a:r>
            <a:r>
              <a:rPr dirty="0" err="1"/>
              <a:t>année</a:t>
            </a:r>
            <a:r>
              <a:rPr dirty="0"/>
              <a:t> de construction, </a:t>
            </a:r>
            <a:r>
              <a:rPr dirty="0" err="1"/>
              <a:t>localisation</a:t>
            </a:r>
            <a:br>
              <a:rPr lang="fr-FR" dirty="0"/>
            </a:br>
            <a:endParaRPr dirty="0"/>
          </a:p>
          <a:p>
            <a:r>
              <a:rPr dirty="0"/>
              <a:t>Variables </a:t>
            </a:r>
            <a:r>
              <a:rPr dirty="0" err="1"/>
              <a:t>énergétiques</a:t>
            </a:r>
            <a:r>
              <a:rPr dirty="0"/>
              <a:t> : </a:t>
            </a:r>
            <a:r>
              <a:rPr dirty="0" err="1"/>
              <a:t>intensité</a:t>
            </a:r>
            <a:r>
              <a:rPr dirty="0"/>
              <a:t>, </a:t>
            </a:r>
            <a:r>
              <a:rPr dirty="0" err="1"/>
              <a:t>consommation</a:t>
            </a:r>
            <a:r>
              <a:rPr dirty="0"/>
              <a:t>, </a:t>
            </a:r>
            <a:r>
              <a:rPr dirty="0" err="1"/>
              <a:t>émissions</a:t>
            </a:r>
            <a:br>
              <a:rPr lang="fr-FR" dirty="0"/>
            </a:br>
            <a:endParaRPr dirty="0"/>
          </a:p>
          <a:p>
            <a:r>
              <a:rPr dirty="0" err="1"/>
              <a:t>Qualité</a:t>
            </a:r>
            <a:r>
              <a:rPr dirty="0"/>
              <a:t> : </a:t>
            </a:r>
            <a:r>
              <a:rPr dirty="0" err="1"/>
              <a:t>présence</a:t>
            </a:r>
            <a:r>
              <a:rPr dirty="0"/>
              <a:t> de </a:t>
            </a:r>
            <a:r>
              <a:rPr dirty="0" err="1"/>
              <a:t>statuts</a:t>
            </a:r>
            <a:r>
              <a:rPr dirty="0"/>
              <a:t> (Valid, Outlier, Error),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manquantes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77A742-6ECD-3566-4FFA-40FC31487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48906"/>
              </p:ext>
            </p:extLst>
          </p:nvPr>
        </p:nvGraphicFramePr>
        <p:xfrm>
          <a:off x="0" y="884420"/>
          <a:ext cx="9144001" cy="5973579"/>
        </p:xfrm>
        <a:graphic>
          <a:graphicData uri="http://schemas.openxmlformats.org/drawingml/2006/table">
            <a:tbl>
              <a:tblPr/>
              <a:tblGrid>
                <a:gridCol w="1729198">
                  <a:extLst>
                    <a:ext uri="{9D8B030D-6E8A-4147-A177-3AD203B41FA5}">
                      <a16:colId xmlns:a16="http://schemas.microsoft.com/office/drawing/2014/main" val="3255620331"/>
                    </a:ext>
                  </a:extLst>
                </a:gridCol>
                <a:gridCol w="4260744">
                  <a:extLst>
                    <a:ext uri="{9D8B030D-6E8A-4147-A177-3AD203B41FA5}">
                      <a16:colId xmlns:a16="http://schemas.microsoft.com/office/drawing/2014/main" val="2969239220"/>
                    </a:ext>
                  </a:extLst>
                </a:gridCol>
                <a:gridCol w="2282542">
                  <a:extLst>
                    <a:ext uri="{9D8B030D-6E8A-4147-A177-3AD203B41FA5}">
                      <a16:colId xmlns:a16="http://schemas.microsoft.com/office/drawing/2014/main" val="2035884870"/>
                    </a:ext>
                  </a:extLst>
                </a:gridCol>
                <a:gridCol w="871517">
                  <a:extLst>
                    <a:ext uri="{9D8B030D-6E8A-4147-A177-3AD203B41FA5}">
                      <a16:colId xmlns:a16="http://schemas.microsoft.com/office/drawing/2014/main" val="395286204"/>
                    </a:ext>
                  </a:extLst>
                </a:gridCol>
              </a:tblGrid>
              <a:tr h="45313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Column Name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 Field Name</a:t>
                      </a:r>
                      <a:b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type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20340"/>
                  </a:ext>
                </a:extLst>
              </a:tr>
              <a:tr h="720058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OSEBuildingID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 identifiant unique attribué à chaque propriété couverte par l'Ordonnance de Benchmarking de Seattle à des fins de suivi et d'identification.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osebuildingid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260164"/>
                  </a:ext>
                </a:extLst>
              </a:tr>
              <a:tr h="48003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DataYear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Année civile (janvier-décembre) représentée par chaque enregistrement de données.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datayear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461323"/>
                  </a:ext>
                </a:extLst>
              </a:tr>
              <a:tr h="48003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BuildingName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officiel ou commun de la propriété enregistré auprès de la ville de Seattle.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buildingname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198760"/>
                  </a:ext>
                </a:extLst>
              </a:tr>
              <a:tr h="48003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BuildingType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Classification de haut niveau des types de bâtiments de la ville de Seattle.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buildingtype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4595454"/>
                  </a:ext>
                </a:extLst>
              </a:tr>
              <a:tr h="48003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TaxParcelIdentificationNumber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Numéro d'identification de parcelle du comté de King (PIN).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taxparcelidentificationnumber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672918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postale de la propriété.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655748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Ville de la propriété.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493048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État de la propriété.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7006387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ZipCode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postal de la propriété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zipcode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219433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Latitude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Latitude de la propriété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latitude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85707"/>
                  </a:ext>
                </a:extLst>
              </a:tr>
              <a:tr h="24001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Longitude de la propriété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longitude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860694"/>
                  </a:ext>
                </a:extLst>
              </a:tr>
              <a:tr h="48003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Neighborhood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 de quartier de la propriété définie par le Département des Quartiers de la Ville de Seattle.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neighborhood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635703"/>
                  </a:ext>
                </a:extLst>
              </a:tr>
              <a:tr h="960078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CouncilDistrictCode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district du conseil municipal actuel de Seattle dans lequel la propriété est située. Les limites sont à jour depuis l'élection municipale de novembre 2023, reflétant le processus de redécoupage décennal de 2022.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councildistrictcode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9121" marR="9121" marT="91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8780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223611-6ECA-9B97-9A2F-8A42D6579B04}"/>
              </a:ext>
            </a:extLst>
          </p:cNvPr>
          <p:cNvSpPr txBox="1"/>
          <p:nvPr/>
        </p:nvSpPr>
        <p:spPr>
          <a:xfrm>
            <a:off x="509666" y="0"/>
            <a:ext cx="8094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APERCU DU DICTIONNAIRE DE DONNEES</a:t>
            </a:r>
          </a:p>
        </p:txBody>
      </p:sp>
    </p:spTree>
    <p:extLst>
      <p:ext uri="{BB962C8B-B14F-4D97-AF65-F5344CB8AC3E}">
        <p14:creationId xmlns:p14="http://schemas.microsoft.com/office/powerpoint/2010/main" val="76659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54752"/>
          </a:xfrm>
        </p:spPr>
        <p:txBody>
          <a:bodyPr>
            <a:normAutofit fontScale="90000"/>
          </a:bodyPr>
          <a:lstStyle/>
          <a:p>
            <a:r>
              <a:rPr dirty="0" err="1"/>
              <a:t>Préparation</a:t>
            </a:r>
            <a:r>
              <a:rPr dirty="0"/>
              <a:t> &amp; </a:t>
            </a:r>
            <a:r>
              <a:rPr dirty="0" err="1"/>
              <a:t>Nettoyage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9430"/>
            <a:ext cx="9144000" cy="5988570"/>
          </a:xfrm>
        </p:spPr>
        <p:txBody>
          <a:bodyPr>
            <a:normAutofit/>
          </a:bodyPr>
          <a:lstStyle/>
          <a:p>
            <a:r>
              <a:rPr lang="fr-FR" dirty="0"/>
              <a:t>Suppression colonnes identifiants, métadonnées ou causant du </a:t>
            </a:r>
            <a:r>
              <a:rPr lang="fr-FR" dirty="0" err="1"/>
              <a:t>leakage</a:t>
            </a:r>
            <a:endParaRPr lang="fr-FR" dirty="0"/>
          </a:p>
          <a:p>
            <a:r>
              <a:rPr lang="fr-FR" dirty="0"/>
              <a:t>Filtrage des enregistrements non fiables (</a:t>
            </a:r>
            <a:r>
              <a:rPr lang="fr-FR" dirty="0" err="1"/>
              <a:t>Error</a:t>
            </a:r>
            <a:r>
              <a:rPr lang="fr-FR" dirty="0"/>
              <a:t>, </a:t>
            </a:r>
            <a:r>
              <a:rPr lang="fr-FR" dirty="0" err="1"/>
              <a:t>Missing</a:t>
            </a:r>
            <a:r>
              <a:rPr lang="fr-FR" dirty="0"/>
              <a:t>, Non-Compliant)</a:t>
            </a:r>
          </a:p>
          <a:p>
            <a:r>
              <a:rPr lang="en-US" dirty="0"/>
              <a:t>Exclusion des outliers (High / Low outlier)</a:t>
            </a:r>
            <a:endParaRPr lang="fr-FR" dirty="0"/>
          </a:p>
          <a:p>
            <a:r>
              <a:rPr lang="fr-FR" dirty="0"/>
              <a:t>Restriction aux bâtiments non résidentiels uniquement</a:t>
            </a:r>
          </a:p>
          <a:p>
            <a:r>
              <a:rPr lang="fr-FR" dirty="0"/>
              <a:t>Imputation contrôlée : types d’usage = 'None', surfaces GFA = 0</a:t>
            </a:r>
          </a:p>
          <a:p>
            <a:r>
              <a:rPr lang="fr-FR" dirty="0"/>
              <a:t>Suppression des lignes sans </a:t>
            </a:r>
            <a:r>
              <a:rPr lang="fr-FR" dirty="0" err="1"/>
              <a:t>target</a:t>
            </a:r>
            <a:r>
              <a:rPr lang="fr-FR" dirty="0"/>
              <a:t> (</a:t>
            </a:r>
            <a:r>
              <a:rPr lang="fr-FR" dirty="0" err="1"/>
              <a:t>SiteEnergyUse</a:t>
            </a:r>
            <a:r>
              <a:rPr lang="fr-FR" dirty="0"/>
              <a:t>, CO₂)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A4C3-E5AC-2451-0B5B-4C4D3A64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79489"/>
          </a:xfrm>
        </p:spPr>
        <p:txBody>
          <a:bodyPr>
            <a:normAutofit/>
          </a:bodyPr>
          <a:lstStyle/>
          <a:p>
            <a:r>
              <a:rPr lang="fr-FR" dirty="0"/>
              <a:t>Diagramme pipeline de nettoyage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2CA324-2E50-4030-DAF4-3470666E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619" y="779488"/>
            <a:ext cx="1512752" cy="607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4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exploratoire</a:t>
            </a:r>
            <a:r>
              <a:rPr dirty="0"/>
              <a:t> </a:t>
            </a:r>
            <a:br>
              <a:rPr lang="fr-FR" dirty="0"/>
            </a:br>
            <a:r>
              <a:rPr dirty="0"/>
              <a:t>– </a:t>
            </a:r>
            <a:r>
              <a:rPr dirty="0" err="1"/>
              <a:t>enseignements</a:t>
            </a:r>
            <a:r>
              <a:rPr dirty="0"/>
              <a:t> </a:t>
            </a:r>
            <a:r>
              <a:rPr dirty="0" err="1"/>
              <a:t>clés</a:t>
            </a:r>
            <a:r>
              <a:rPr lang="fr-FR" dirty="0"/>
              <a:t> – Co²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C2C0752-4BD0-E546-74FD-9FCF86B7D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8600"/>
            <a:ext cx="9144000" cy="5359400"/>
          </a:xfrm>
        </p:spPr>
        <p:txBody>
          <a:bodyPr>
            <a:normAutofit lnSpcReduction="10000"/>
          </a:bodyPr>
          <a:lstStyle/>
          <a:p>
            <a:r>
              <a:rPr lang="fr-FR" sz="2400" dirty="0"/>
              <a:t>La variable </a:t>
            </a:r>
            <a:r>
              <a:rPr lang="fr-FR" sz="2400" dirty="0" err="1"/>
              <a:t>TotalGHGEmissions</a:t>
            </a:r>
            <a:r>
              <a:rPr lang="fr-FR" sz="2400" dirty="0"/>
              <a:t> est fortement asymétrique (</a:t>
            </a:r>
            <a:r>
              <a:rPr lang="fr-FR" sz="2400" dirty="0" err="1"/>
              <a:t>skewed</a:t>
            </a:r>
            <a:r>
              <a:rPr lang="fr-FR" sz="2400" dirty="0"/>
              <a:t> à droite).</a:t>
            </a:r>
            <a:br>
              <a:rPr lang="fr-FR" sz="2400" dirty="0"/>
            </a:br>
            <a:r>
              <a:rPr lang="fr-FR" sz="2400" dirty="0"/>
              <a:t>→ La majorité des bâtiments présentent de faibles émissions, mais une minorité de grands sites (campus, hôpitaux, grands bureaux) concentrent des valeurs très élevées.</a:t>
            </a:r>
            <a:br>
              <a:rPr lang="fr-FR" sz="2400" dirty="0"/>
            </a:br>
            <a:r>
              <a:rPr lang="fr-FR" sz="2400" dirty="0"/>
              <a:t>→ Cela se traduit par une queue longue dans l’histogramme et un écart important entre la médiane et le maximum.</a:t>
            </a:r>
          </a:p>
          <a:p>
            <a:r>
              <a:rPr lang="fr-FR" sz="2400" b="1" dirty="0"/>
              <a:t>Moyenne</a:t>
            </a:r>
            <a:r>
              <a:rPr lang="fr-FR" sz="2400" dirty="0"/>
              <a:t> bien supérieure à la médiane → signe d’une distribution biaisée.</a:t>
            </a:r>
          </a:p>
          <a:p>
            <a:r>
              <a:rPr lang="fr-FR" sz="2400" dirty="0"/>
              <a:t>Quantiles :</a:t>
            </a:r>
            <a:br>
              <a:rPr lang="fr-FR" sz="2400" dirty="0"/>
            </a:br>
            <a:r>
              <a:rPr lang="fr-FR" sz="2400" dirty="0"/>
              <a:t>25% des bâtiments ≈ très faibles émissions.</a:t>
            </a:r>
            <a:br>
              <a:rPr lang="fr-FR" sz="2400" dirty="0"/>
            </a:br>
            <a:r>
              <a:rPr lang="fr-FR" sz="2400" dirty="0"/>
              <a:t>75% des bâtiments en dessous d’un seuil modéré → concentration des valeurs.</a:t>
            </a:r>
            <a:br>
              <a:rPr lang="fr-FR" sz="2400" dirty="0"/>
            </a:br>
            <a:r>
              <a:rPr lang="fr-FR" sz="2400" dirty="0"/>
              <a:t>Les 5–10% supérieurs dominent largement la consommation totale de CO₂.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3E1080-178F-BFDC-CA86-30698B97A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69077"/>
              </p:ext>
            </p:extLst>
          </p:nvPr>
        </p:nvGraphicFramePr>
        <p:xfrm>
          <a:off x="0" y="0"/>
          <a:ext cx="9144000" cy="6858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1969429493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501166550"/>
                    </a:ext>
                  </a:extLst>
                </a:gridCol>
                <a:gridCol w="5803900">
                  <a:extLst>
                    <a:ext uri="{9D8B030D-6E8A-4147-A177-3AD203B41FA5}">
                      <a16:colId xmlns:a16="http://schemas.microsoft.com/office/drawing/2014/main" val="4205385748"/>
                    </a:ext>
                  </a:extLst>
                </a:gridCol>
              </a:tblGrid>
              <a:tr h="32135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u="none" strike="noStrike">
                          <a:effectLst/>
                        </a:rPr>
                        <a:t>Statistique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u="none" strike="noStrike">
                          <a:effectLst/>
                        </a:rPr>
                        <a:t>Valeur (approx.)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u="none" strike="noStrike">
                          <a:effectLst/>
                        </a:rPr>
                        <a:t>Interprétation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402836248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Min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~0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Bâtiments quasi neutres (ou erreurs de mesure)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43628119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25% (Q1)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 dirty="0">
                          <a:effectLst/>
                        </a:rPr>
                        <a:t>~200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Petits bâtiments avec faible consommation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1141543138"/>
                  </a:ext>
                </a:extLst>
              </a:tr>
              <a:tr h="9621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Médiane (Q2)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 dirty="0">
                          <a:effectLst/>
                        </a:rPr>
                        <a:t>~1 000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La moitié des bâtiments émettent moins de 1k tonnes CO₂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2407835046"/>
                  </a:ext>
                </a:extLst>
              </a:tr>
              <a:tr h="73905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Moyenne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~4 500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Supérieure à la médiane → distribution très asymétrique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2273084215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75% (Q3)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~3 500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75% des bâtiments restent sous ce seuil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2852476665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r" fontAlgn="ctr"/>
                      <a:r>
                        <a:rPr lang="fr-FR" sz="1800" u="none" strike="noStrike" dirty="0">
                          <a:effectLst/>
                        </a:rPr>
                        <a:t>90%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~10 000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Les plus gros émetteurs commencent à dominer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879317407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r" fontAlgn="ctr"/>
                      <a:r>
                        <a:rPr lang="fr-FR" sz="1800" u="none" strike="noStrike">
                          <a:effectLst/>
                        </a:rPr>
                        <a:t>95%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~20 000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Quartier d’affaires / campus universitaires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2678958602"/>
                  </a:ext>
                </a:extLst>
              </a:tr>
              <a:tr h="641741">
                <a:tc>
                  <a:txBody>
                    <a:bodyPr/>
                    <a:lstStyle/>
                    <a:p>
                      <a:pPr algn="r" fontAlgn="ctr"/>
                      <a:r>
                        <a:rPr lang="fr-FR" sz="1800" u="none" strike="noStrike">
                          <a:effectLst/>
                        </a:rPr>
                        <a:t>99%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&gt;50 000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 dirty="0">
                          <a:effectLst/>
                        </a:rPr>
                        <a:t>Cas extrêmes, hôpitaux ou centres de données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899206996"/>
                  </a:ext>
                </a:extLst>
              </a:tr>
              <a:tr h="98501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>
                          <a:effectLst/>
                        </a:rPr>
                        <a:t>Max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 dirty="0">
                          <a:effectLst/>
                        </a:rPr>
                        <a:t>&gt;100 000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u="none" strike="noStrike" dirty="0">
                          <a:effectLst/>
                        </a:rPr>
                        <a:t>Très grands sites isolés, responsables d’une part massive des émissions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9" marR="829" marT="829" marB="0" anchor="ctr"/>
                </a:tc>
                <a:extLst>
                  <a:ext uri="{0D108BD9-81ED-4DB2-BD59-A6C34878D82A}">
                    <a16:rowId xmlns:a16="http://schemas.microsoft.com/office/drawing/2014/main" val="1167875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29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4B5695-03CF-7612-6239-205C2F460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242"/>
            <a:ext cx="9143999" cy="569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4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exploratoire</a:t>
            </a:r>
            <a:r>
              <a:rPr dirty="0"/>
              <a:t> </a:t>
            </a:r>
            <a:br>
              <a:rPr lang="fr-FR" dirty="0"/>
            </a:br>
            <a:r>
              <a:rPr dirty="0"/>
              <a:t>– </a:t>
            </a:r>
            <a:r>
              <a:rPr dirty="0" err="1"/>
              <a:t>enseignements</a:t>
            </a:r>
            <a:r>
              <a:rPr dirty="0"/>
              <a:t> </a:t>
            </a:r>
            <a:r>
              <a:rPr dirty="0" err="1"/>
              <a:t>clés</a:t>
            </a:r>
            <a:r>
              <a:rPr lang="fr-FR" dirty="0"/>
              <a:t> – Energy</a:t>
            </a:r>
            <a:endParaRPr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0DC74156-23FF-68B6-2846-414109581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8600"/>
            <a:ext cx="9144000" cy="5359400"/>
          </a:xfrm>
        </p:spPr>
        <p:txBody>
          <a:bodyPr>
            <a:normAutofit lnSpcReduction="10000"/>
          </a:bodyPr>
          <a:lstStyle/>
          <a:p>
            <a:r>
              <a:rPr lang="fr-FR" sz="2400" dirty="0"/>
              <a:t>La variable </a:t>
            </a:r>
            <a:r>
              <a:rPr lang="fr-FR" sz="2400" dirty="0" err="1"/>
              <a:t>SiteEnergyUse</a:t>
            </a:r>
            <a:r>
              <a:rPr lang="fr-FR" sz="2400" dirty="0"/>
              <a:t>(</a:t>
            </a:r>
            <a:r>
              <a:rPr lang="fr-FR" sz="2400" dirty="0" err="1"/>
              <a:t>kBtu</a:t>
            </a:r>
            <a:r>
              <a:rPr lang="fr-FR" sz="2400" dirty="0"/>
              <a:t>)  fortement asymétrique (</a:t>
            </a:r>
            <a:r>
              <a:rPr lang="fr-FR" sz="2400" dirty="0" err="1"/>
              <a:t>skewed</a:t>
            </a:r>
            <a:r>
              <a:rPr lang="fr-FR" sz="2400" dirty="0"/>
              <a:t> à droite).</a:t>
            </a:r>
            <a:br>
              <a:rPr lang="fr-FR" sz="2400" dirty="0"/>
            </a:br>
            <a:r>
              <a:rPr lang="fr-FR" sz="2400" dirty="0"/>
              <a:t>→ La majorité des bâtiments consomment relativement peu d’énergie, alors qu’une minorité présente des consommations extrêmement élevées</a:t>
            </a:r>
            <a:br>
              <a:rPr lang="fr-FR" sz="2400" dirty="0"/>
            </a:br>
            <a:r>
              <a:rPr lang="fr-FR" sz="2400" dirty="0"/>
              <a:t>→ Cela se traduit par une queue longue dans l’histogramme et un écart important entre la médiane et le maximum.</a:t>
            </a:r>
          </a:p>
          <a:p>
            <a:r>
              <a:rPr lang="fr-FR" sz="2400" b="1" dirty="0"/>
              <a:t>Moyenne</a:t>
            </a:r>
            <a:r>
              <a:rPr lang="fr-FR" sz="2400" dirty="0"/>
              <a:t> bien supérieure à la médiane → signe d’une distribution biaisée.</a:t>
            </a:r>
          </a:p>
          <a:p>
            <a:r>
              <a:rPr lang="fr-FR" sz="2400" dirty="0"/>
              <a:t>Quantiles :</a:t>
            </a:r>
            <a:br>
              <a:rPr lang="fr-FR" sz="2400" dirty="0"/>
            </a:br>
            <a:r>
              <a:rPr lang="fr-FR" sz="2400" dirty="0"/>
              <a:t>25% des bâtiments consomment moins de 1.2 M </a:t>
            </a:r>
            <a:r>
              <a:rPr lang="fr-FR" sz="2400" dirty="0" err="1"/>
              <a:t>kBtu</a:t>
            </a:r>
            <a:r>
              <a:rPr lang="fr-FR" sz="2400" dirty="0"/>
              <a:t> → faible consommation.</a:t>
            </a:r>
            <a:br>
              <a:rPr lang="fr-FR" sz="2400" dirty="0"/>
            </a:br>
            <a:r>
              <a:rPr lang="fr-FR" sz="2400" dirty="0"/>
              <a:t>50% &lt; 2.7 M </a:t>
            </a:r>
            <a:r>
              <a:rPr lang="fr-FR" sz="2400" dirty="0" err="1"/>
              <a:t>kBtu</a:t>
            </a:r>
            <a:r>
              <a:rPr lang="fr-FR" sz="2400" dirty="0"/>
              <a:t> → consommation modérée.</a:t>
            </a:r>
          </a:p>
          <a:p>
            <a:r>
              <a:rPr lang="fr-FR" sz="2400" dirty="0"/>
              <a:t>Les 10% supérieurs (au-delà de ~10 M </a:t>
            </a:r>
            <a:r>
              <a:rPr lang="fr-FR" sz="2400" dirty="0" err="1"/>
              <a:t>kBtu</a:t>
            </a:r>
            <a:r>
              <a:rPr lang="fr-FR" sz="2400" dirty="0"/>
              <a:t>) concentrent une très grande partie de la consommation totale de la ville.</a:t>
            </a:r>
          </a:p>
        </p:txBody>
      </p:sp>
    </p:spTree>
    <p:extLst>
      <p:ext uri="{BB962C8B-B14F-4D97-AF65-F5344CB8AC3E}">
        <p14:creationId xmlns:p14="http://schemas.microsoft.com/office/powerpoint/2010/main" val="8014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FE8B56-5617-8F42-DB45-0F48C68AE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98787"/>
              </p:ext>
            </p:extLst>
          </p:nvPr>
        </p:nvGraphicFramePr>
        <p:xfrm>
          <a:off x="0" y="0"/>
          <a:ext cx="9144000" cy="6858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31075825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258702391"/>
                    </a:ext>
                  </a:extLst>
                </a:gridCol>
                <a:gridCol w="5359400">
                  <a:extLst>
                    <a:ext uri="{9D8B030D-6E8A-4147-A177-3AD203B41FA5}">
                      <a16:colId xmlns:a16="http://schemas.microsoft.com/office/drawing/2014/main" val="2986855517"/>
                    </a:ext>
                  </a:extLst>
                </a:gridCol>
              </a:tblGrid>
              <a:tr h="3117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u="none" strike="noStrike">
                          <a:effectLst/>
                        </a:rPr>
                        <a:t>Statistique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u="none" strike="noStrike">
                          <a:effectLst/>
                        </a:rPr>
                        <a:t>Valeur (approx.)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u="none" strike="noStrike">
                          <a:effectLst/>
                        </a:rPr>
                        <a:t>Interprétation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4034603333"/>
                  </a:ext>
                </a:extLst>
              </a:tr>
              <a:tr h="77931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Min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57 133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Bâtiment très peu énergivore (petit site)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3057711161"/>
                  </a:ext>
                </a:extLst>
              </a:tr>
              <a:tr h="1091046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25% (Q1)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 dirty="0">
                          <a:effectLst/>
                        </a:rPr>
                        <a:t>1.24 M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Quartile inférieur – petits bâtiments classiques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1669102714"/>
                  </a:ext>
                </a:extLst>
              </a:tr>
              <a:tr h="14027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Médiane (Q2)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2.71 M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La moitié des bâtiments consomment moins de 2.7 M kBtu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1000014275"/>
                  </a:ext>
                </a:extLst>
              </a:tr>
              <a:tr h="935182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Moyenne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9.0 M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Supérieure à la médiane → forte asymétrie (skew)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2612125402"/>
                  </a:ext>
                </a:extLst>
              </a:tr>
              <a:tr h="1091046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75% (Q3)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7.26 M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75% des bâtiments restent en dessous de ce seuil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2283106727"/>
                  </a:ext>
                </a:extLst>
              </a:tr>
              <a:tr h="124690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Max</a:t>
                      </a:r>
                      <a:endParaRPr lang="fr-F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>
                          <a:effectLst/>
                        </a:rPr>
                        <a:t>873 M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u="none" strike="noStrike" dirty="0">
                          <a:effectLst/>
                        </a:rPr>
                        <a:t>Cas extrême (très grand site, campus ou data center)</a:t>
                      </a:r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43" marR="5143" marT="5143" marB="0" anchor="ctr"/>
                </a:tc>
                <a:extLst>
                  <a:ext uri="{0D108BD9-81ED-4DB2-BD59-A6C34878D82A}">
                    <a16:rowId xmlns:a16="http://schemas.microsoft.com/office/drawing/2014/main" val="2129835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45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AA041B-0EB7-85B4-5845-73DB41C8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700"/>
            <a:ext cx="9144000" cy="552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4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73628-6C97-C1AF-BA64-4139DC1A9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6"/>
            <a:ext cx="8229600" cy="614362"/>
          </a:xfrm>
        </p:spPr>
        <p:txBody>
          <a:bodyPr>
            <a:normAutofit fontScale="90000"/>
          </a:bodyPr>
          <a:lstStyle/>
          <a:p>
            <a:r>
              <a:rPr dirty="0"/>
              <a:t>Feature Engineering – </a:t>
            </a:r>
            <a:r>
              <a:rPr lang="fr-FR" dirty="0"/>
              <a:t>Energy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9019"/>
            <a:ext cx="9144000" cy="5818981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🏗️ Building Age &amp; Era : </a:t>
            </a:r>
            <a:r>
              <a:rPr dirty="0" err="1"/>
              <a:t>âge</a:t>
            </a:r>
            <a:r>
              <a:rPr dirty="0"/>
              <a:t>, </a:t>
            </a:r>
            <a:r>
              <a:rPr dirty="0" err="1"/>
              <a:t>décennie</a:t>
            </a:r>
            <a:r>
              <a:rPr dirty="0"/>
              <a:t>, </a:t>
            </a:r>
            <a:r>
              <a:rPr dirty="0" err="1"/>
              <a:t>catégories</a:t>
            </a:r>
            <a:r>
              <a:rPr dirty="0"/>
              <a:t> (Pre-WWII, Modern...)</a:t>
            </a:r>
          </a:p>
          <a:p>
            <a:r>
              <a:rPr dirty="0"/>
              <a:t>📏 Ratios </a:t>
            </a:r>
            <a:r>
              <a:rPr dirty="0" err="1"/>
              <a:t>structurels</a:t>
            </a:r>
            <a:r>
              <a:rPr dirty="0"/>
              <a:t> : </a:t>
            </a:r>
            <a:r>
              <a:rPr dirty="0" err="1"/>
              <a:t>ParkingRatio</a:t>
            </a:r>
            <a:r>
              <a:rPr dirty="0"/>
              <a:t>, </a:t>
            </a:r>
            <a:r>
              <a:rPr dirty="0" err="1"/>
              <a:t>LargestUseRatio</a:t>
            </a:r>
            <a:r>
              <a:rPr dirty="0"/>
              <a:t>, </a:t>
            </a:r>
            <a:r>
              <a:rPr dirty="0" err="1"/>
              <a:t>BuildingDensity</a:t>
            </a:r>
            <a:r>
              <a:rPr dirty="0"/>
              <a:t>, </a:t>
            </a:r>
            <a:r>
              <a:rPr dirty="0" err="1"/>
              <a:t>AverageFloorArea</a:t>
            </a:r>
            <a:endParaRPr dirty="0"/>
          </a:p>
          <a:p>
            <a:r>
              <a:rPr dirty="0"/>
              <a:t>📊 </a:t>
            </a:r>
            <a:r>
              <a:rPr dirty="0" err="1"/>
              <a:t>Complexité</a:t>
            </a:r>
            <a:r>
              <a:rPr dirty="0"/>
              <a:t> </a:t>
            </a:r>
            <a:r>
              <a:rPr dirty="0" err="1"/>
              <a:t>d’usage</a:t>
            </a:r>
            <a:r>
              <a:rPr dirty="0"/>
              <a:t> : Dominant/Secondary/Tertiary ratios + </a:t>
            </a:r>
            <a:r>
              <a:rPr dirty="0" err="1"/>
              <a:t>entropie</a:t>
            </a:r>
            <a:r>
              <a:rPr dirty="0"/>
              <a:t> (</a:t>
            </a:r>
            <a:r>
              <a:rPr dirty="0" err="1"/>
              <a:t>UseTypeBalance</a:t>
            </a:r>
            <a:r>
              <a:rPr dirty="0"/>
              <a:t>)</a:t>
            </a:r>
          </a:p>
          <a:p>
            <a:r>
              <a:rPr dirty="0"/>
              <a:t>🏢 </a:t>
            </a:r>
            <a:r>
              <a:rPr dirty="0" err="1"/>
              <a:t>Regroupement</a:t>
            </a:r>
            <a:r>
              <a:rPr dirty="0"/>
              <a:t> types de </a:t>
            </a:r>
            <a:r>
              <a:rPr dirty="0" err="1"/>
              <a:t>bâtiments</a:t>
            </a:r>
            <a:r>
              <a:rPr dirty="0"/>
              <a:t> : Office, Industrial, Education, Healthcare, etc.</a:t>
            </a:r>
          </a:p>
          <a:p>
            <a:r>
              <a:rPr dirty="0"/>
              <a:t>⚑ Binary Flags :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d’hôtels</a:t>
            </a:r>
            <a:r>
              <a:rPr dirty="0"/>
              <a:t>, </a:t>
            </a:r>
            <a:r>
              <a:rPr dirty="0" err="1"/>
              <a:t>hôpitaux</a:t>
            </a:r>
            <a:r>
              <a:rPr dirty="0"/>
              <a:t>, restaurants, data centers, </a:t>
            </a:r>
            <a:r>
              <a:rPr dirty="0" err="1"/>
              <a:t>laboratoires</a:t>
            </a:r>
            <a:r>
              <a:rPr dirty="0"/>
              <a:t>...</a:t>
            </a:r>
          </a:p>
          <a:p>
            <a:r>
              <a:rPr dirty="0"/>
              <a:t>🔀 Interactions : Age × Surface, Hotel &amp; Food, </a:t>
            </a:r>
            <a:r>
              <a:rPr dirty="0" err="1"/>
              <a:t>indicateurs</a:t>
            </a:r>
            <a:r>
              <a:rPr dirty="0"/>
              <a:t> </a:t>
            </a:r>
            <a:r>
              <a:rPr dirty="0" err="1"/>
              <a:t>géographiques</a:t>
            </a:r>
            <a:r>
              <a:rPr dirty="0"/>
              <a:t> (Downtown, North/South)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1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Création</a:t>
            </a:r>
            <a:r>
              <a:rPr dirty="0"/>
              <a:t> de variables </a:t>
            </a:r>
            <a:r>
              <a:rPr dirty="0" err="1"/>
              <a:t>dérivées</a:t>
            </a:r>
            <a:r>
              <a:rPr dirty="0"/>
              <a:t> pour </a:t>
            </a:r>
            <a:r>
              <a:rPr dirty="0" err="1"/>
              <a:t>enrichir</a:t>
            </a:r>
            <a:r>
              <a:rPr dirty="0"/>
              <a:t> le </a:t>
            </a:r>
            <a:r>
              <a:rPr dirty="0" err="1"/>
              <a:t>modèle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88962"/>
          </a:xfrm>
        </p:spPr>
        <p:txBody>
          <a:bodyPr>
            <a:normAutofit fontScale="90000"/>
          </a:bodyPr>
          <a:lstStyle/>
          <a:p>
            <a:r>
              <a:rPr dirty="0"/>
              <a:t>Feature Engineering – </a:t>
            </a:r>
            <a:r>
              <a:rPr lang="fr-FR" dirty="0"/>
              <a:t>Co²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7422"/>
            <a:ext cx="9144000" cy="5890578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🏗️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temporelles</a:t>
            </a:r>
            <a:r>
              <a:rPr dirty="0"/>
              <a:t> : </a:t>
            </a:r>
            <a:r>
              <a:rPr dirty="0" err="1"/>
              <a:t>BuildingAge</a:t>
            </a:r>
            <a:r>
              <a:rPr dirty="0"/>
              <a:t>, </a:t>
            </a:r>
            <a:r>
              <a:rPr dirty="0" err="1"/>
              <a:t>ConstructionEra</a:t>
            </a:r>
            <a:r>
              <a:rPr dirty="0"/>
              <a:t>, </a:t>
            </a:r>
            <a:r>
              <a:rPr dirty="0" err="1"/>
              <a:t>ConstructionDecade</a:t>
            </a:r>
            <a:endParaRPr dirty="0"/>
          </a:p>
          <a:p>
            <a:r>
              <a:rPr dirty="0"/>
              <a:t>📏 Ratios </a:t>
            </a:r>
            <a:r>
              <a:rPr dirty="0" err="1"/>
              <a:t>structurels</a:t>
            </a:r>
            <a:r>
              <a:rPr dirty="0"/>
              <a:t> : </a:t>
            </a:r>
            <a:r>
              <a:rPr dirty="0" err="1"/>
              <a:t>ParkingRatio</a:t>
            </a:r>
            <a:r>
              <a:rPr dirty="0"/>
              <a:t>, </a:t>
            </a:r>
            <a:r>
              <a:rPr dirty="0" err="1"/>
              <a:t>BuildingDensity</a:t>
            </a:r>
            <a:r>
              <a:rPr dirty="0"/>
              <a:t>, </a:t>
            </a:r>
            <a:r>
              <a:rPr dirty="0" err="1"/>
              <a:t>AverageFloorArea</a:t>
            </a:r>
            <a:r>
              <a:rPr dirty="0"/>
              <a:t>, </a:t>
            </a:r>
            <a:r>
              <a:rPr dirty="0" err="1"/>
              <a:t>LargestUseRatio</a:t>
            </a:r>
            <a:endParaRPr dirty="0"/>
          </a:p>
          <a:p>
            <a:r>
              <a:rPr dirty="0"/>
              <a:t>📊 </a:t>
            </a:r>
            <a:r>
              <a:rPr dirty="0" err="1"/>
              <a:t>Complexité</a:t>
            </a:r>
            <a:r>
              <a:rPr dirty="0"/>
              <a:t> </a:t>
            </a:r>
            <a:r>
              <a:rPr dirty="0" err="1"/>
              <a:t>d’usage</a:t>
            </a:r>
            <a:r>
              <a:rPr dirty="0"/>
              <a:t> : ratios Dominant/Secondary/Tertiary, </a:t>
            </a:r>
            <a:r>
              <a:rPr dirty="0" err="1"/>
              <a:t>entropie</a:t>
            </a:r>
            <a:r>
              <a:rPr dirty="0"/>
              <a:t> (</a:t>
            </a:r>
            <a:r>
              <a:rPr dirty="0" err="1"/>
              <a:t>UseTypeBalance</a:t>
            </a:r>
            <a:r>
              <a:rPr dirty="0"/>
              <a:t>)</a:t>
            </a:r>
          </a:p>
          <a:p>
            <a:r>
              <a:rPr dirty="0"/>
              <a:t>🏢 </a:t>
            </a:r>
            <a:r>
              <a:rPr dirty="0" err="1"/>
              <a:t>Regroupement</a:t>
            </a:r>
            <a:r>
              <a:rPr dirty="0"/>
              <a:t> des usages : Office, Industrial, Education, Healthcare, etc.</a:t>
            </a:r>
          </a:p>
          <a:p>
            <a:r>
              <a:rPr dirty="0"/>
              <a:t>⚑ Binary Flags : </a:t>
            </a:r>
            <a:r>
              <a:rPr dirty="0" err="1"/>
              <a:t>hôtel</a:t>
            </a:r>
            <a:r>
              <a:rPr dirty="0"/>
              <a:t>, </a:t>
            </a:r>
            <a:r>
              <a:rPr dirty="0" err="1"/>
              <a:t>hôpital</a:t>
            </a:r>
            <a:r>
              <a:rPr dirty="0"/>
              <a:t>, data center, </a:t>
            </a:r>
            <a:r>
              <a:rPr dirty="0" err="1"/>
              <a:t>laboratoire</a:t>
            </a:r>
            <a:r>
              <a:rPr dirty="0"/>
              <a:t>, piscine, </a:t>
            </a:r>
            <a:r>
              <a:rPr dirty="0" err="1"/>
              <a:t>réfrigération</a:t>
            </a:r>
            <a:r>
              <a:rPr dirty="0"/>
              <a:t>…</a:t>
            </a:r>
          </a:p>
          <a:p>
            <a:r>
              <a:rPr dirty="0"/>
              <a:t>🔥 </a:t>
            </a:r>
            <a:r>
              <a:rPr dirty="0" err="1"/>
              <a:t>Spécifiques</a:t>
            </a:r>
            <a:r>
              <a:rPr dirty="0"/>
              <a:t> </a:t>
            </a:r>
            <a:r>
              <a:rPr lang="fr-FR" dirty="0"/>
              <a:t>Co²</a:t>
            </a:r>
            <a:r>
              <a:rPr dirty="0"/>
              <a:t> : </a:t>
            </a:r>
            <a:r>
              <a:rPr dirty="0" err="1"/>
              <a:t>HighGasUseProxy</a:t>
            </a:r>
            <a:r>
              <a:rPr dirty="0"/>
              <a:t> (restaurants, </a:t>
            </a:r>
            <a:r>
              <a:rPr dirty="0" err="1"/>
              <a:t>labos</a:t>
            </a:r>
            <a:r>
              <a:rPr dirty="0"/>
              <a:t>, fast-foods)</a:t>
            </a:r>
          </a:p>
          <a:p>
            <a:r>
              <a:rPr dirty="0"/>
              <a:t>🔀 Interactions : Age × Surface, </a:t>
            </a:r>
            <a:r>
              <a:rPr dirty="0" err="1"/>
              <a:t>localisation</a:t>
            </a:r>
            <a:r>
              <a:rPr dirty="0"/>
              <a:t> (Downtown, North/South)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896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/>
              <a:t>Variables </a:t>
            </a:r>
            <a:r>
              <a:rPr dirty="0" err="1"/>
              <a:t>dérivées</a:t>
            </a:r>
            <a:r>
              <a:rPr dirty="0"/>
              <a:t> pour </a:t>
            </a:r>
            <a:r>
              <a:rPr dirty="0" err="1"/>
              <a:t>modéliser</a:t>
            </a:r>
            <a:r>
              <a:rPr dirty="0"/>
              <a:t> la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énergétique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61143"/>
          </a:xfrm>
        </p:spPr>
        <p:txBody>
          <a:bodyPr>
            <a:normAutofit fontScale="90000"/>
          </a:bodyPr>
          <a:lstStyle/>
          <a:p>
            <a:r>
              <a:rPr dirty="0" err="1"/>
              <a:t>Préparation</a:t>
            </a:r>
            <a:r>
              <a:rPr dirty="0"/>
              <a:t> des variables pour la </a:t>
            </a:r>
            <a:r>
              <a:rPr dirty="0" err="1"/>
              <a:t>modélisation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92500"/>
          </a:bodyPr>
          <a:lstStyle/>
          <a:p>
            <a:r>
              <a:rPr dirty="0"/>
              <a:t>✔️ Conversion des variables </a:t>
            </a:r>
            <a:r>
              <a:rPr dirty="0" err="1"/>
              <a:t>booléennes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numériques</a:t>
            </a:r>
            <a:r>
              <a:rPr dirty="0"/>
              <a:t> (0/1)</a:t>
            </a:r>
          </a:p>
          <a:p>
            <a:r>
              <a:rPr dirty="0"/>
              <a:t>✔️ </a:t>
            </a:r>
            <a:r>
              <a:rPr dirty="0" err="1"/>
              <a:t>Calcul</a:t>
            </a:r>
            <a:r>
              <a:rPr dirty="0"/>
              <a:t> de la </a:t>
            </a:r>
            <a:r>
              <a:rPr dirty="0" err="1"/>
              <a:t>matrice</a:t>
            </a:r>
            <a:r>
              <a:rPr dirty="0"/>
              <a:t> de </a:t>
            </a:r>
            <a:r>
              <a:rPr dirty="0" err="1"/>
              <a:t>corrélation</a:t>
            </a:r>
            <a:r>
              <a:rPr dirty="0"/>
              <a:t> entre variables </a:t>
            </a:r>
            <a:r>
              <a:rPr dirty="0" err="1"/>
              <a:t>numériques</a:t>
            </a:r>
            <a:endParaRPr dirty="0"/>
          </a:p>
          <a:p>
            <a:r>
              <a:rPr dirty="0"/>
              <a:t>✔️ Identification de </a:t>
            </a:r>
            <a:r>
              <a:rPr dirty="0" err="1"/>
              <a:t>corrélations</a:t>
            </a:r>
            <a:r>
              <a:rPr dirty="0"/>
              <a:t> fortes via heatmap</a:t>
            </a:r>
          </a:p>
          <a:p>
            <a:r>
              <a:rPr dirty="0"/>
              <a:t>✔️ </a:t>
            </a:r>
            <a:r>
              <a:rPr dirty="0" err="1"/>
              <a:t>Analyse</a:t>
            </a:r>
            <a:r>
              <a:rPr dirty="0"/>
              <a:t> de </a:t>
            </a:r>
            <a:r>
              <a:rPr dirty="0" err="1"/>
              <a:t>multicolinéarité</a:t>
            </a:r>
            <a:r>
              <a:rPr dirty="0"/>
              <a:t> avec VIF (Variance Inflation Factor)</a:t>
            </a:r>
          </a:p>
          <a:p>
            <a:r>
              <a:rPr dirty="0"/>
              <a:t>   → Suppression </a:t>
            </a:r>
            <a:r>
              <a:rPr dirty="0" err="1"/>
              <a:t>itérative</a:t>
            </a:r>
            <a:r>
              <a:rPr dirty="0"/>
              <a:t> des variables avec VIF &gt; 11</a:t>
            </a:r>
          </a:p>
          <a:p>
            <a:r>
              <a:rPr dirty="0"/>
              <a:t>✔️ Constitution du dataset final : variables </a:t>
            </a:r>
            <a:r>
              <a:rPr dirty="0" err="1"/>
              <a:t>qualitatives</a:t>
            </a:r>
            <a:r>
              <a:rPr dirty="0"/>
              <a:t> + </a:t>
            </a:r>
            <a:r>
              <a:rPr dirty="0" err="1"/>
              <a:t>numériques</a:t>
            </a:r>
            <a:r>
              <a:rPr dirty="0"/>
              <a:t> stables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9779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Encodage</a:t>
            </a:r>
            <a:r>
              <a:rPr dirty="0"/>
              <a:t>, </a:t>
            </a:r>
            <a:r>
              <a:rPr dirty="0" err="1"/>
              <a:t>corrélations</a:t>
            </a:r>
            <a:r>
              <a:rPr dirty="0"/>
              <a:t> et </a:t>
            </a:r>
            <a:r>
              <a:rPr dirty="0" err="1"/>
              <a:t>réduction</a:t>
            </a:r>
            <a:r>
              <a:rPr dirty="0"/>
              <a:t> de </a:t>
            </a:r>
            <a:r>
              <a:rPr dirty="0" err="1"/>
              <a:t>multicolinéarité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13"/>
            <a:ext cx="8229600" cy="665162"/>
          </a:xfrm>
        </p:spPr>
        <p:txBody>
          <a:bodyPr>
            <a:normAutofit fontScale="90000"/>
          </a:bodyPr>
          <a:lstStyle/>
          <a:p>
            <a:r>
              <a:rPr dirty="0" err="1"/>
              <a:t>Hypothèses</a:t>
            </a:r>
            <a:r>
              <a:rPr dirty="0"/>
              <a:t> de </a:t>
            </a:r>
            <a:r>
              <a:rPr dirty="0" err="1"/>
              <a:t>Modélisation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8086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📊 </a:t>
            </a:r>
            <a:r>
              <a:rPr dirty="0" err="1"/>
              <a:t>Représentativité</a:t>
            </a:r>
            <a:r>
              <a:rPr dirty="0"/>
              <a:t> : les </a:t>
            </a:r>
            <a:r>
              <a:rPr dirty="0" err="1"/>
              <a:t>données</a:t>
            </a:r>
            <a:r>
              <a:rPr dirty="0"/>
              <a:t> 2016 </a:t>
            </a:r>
            <a:r>
              <a:rPr dirty="0" err="1"/>
              <a:t>reflètent</a:t>
            </a:r>
            <a:r>
              <a:rPr dirty="0"/>
              <a:t> </a:t>
            </a:r>
            <a:r>
              <a:rPr dirty="0" err="1"/>
              <a:t>fidèlement</a:t>
            </a:r>
            <a:r>
              <a:rPr dirty="0"/>
              <a:t> les </a:t>
            </a:r>
            <a:r>
              <a:rPr dirty="0" err="1"/>
              <a:t>bâtiments</a:t>
            </a:r>
            <a:r>
              <a:rPr dirty="0"/>
              <a:t> non </a:t>
            </a:r>
            <a:r>
              <a:rPr dirty="0" err="1"/>
              <a:t>résidentiels</a:t>
            </a:r>
            <a:r>
              <a:rPr dirty="0"/>
              <a:t> de Seattle.</a:t>
            </a:r>
          </a:p>
          <a:p>
            <a:r>
              <a:rPr dirty="0"/>
              <a:t>🏗️ Variables </a:t>
            </a:r>
            <a:r>
              <a:rPr dirty="0" err="1"/>
              <a:t>explicatives</a:t>
            </a:r>
            <a:r>
              <a:rPr dirty="0"/>
              <a:t> :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structurelles</a:t>
            </a:r>
            <a:r>
              <a:rPr dirty="0"/>
              <a:t> et </a:t>
            </a:r>
            <a:r>
              <a:rPr dirty="0" err="1"/>
              <a:t>d’usage</a:t>
            </a:r>
            <a:r>
              <a:rPr dirty="0"/>
              <a:t> </a:t>
            </a:r>
            <a:r>
              <a:rPr dirty="0" err="1"/>
              <a:t>suffisent</a:t>
            </a:r>
            <a:r>
              <a:rPr dirty="0"/>
              <a:t> à </a:t>
            </a:r>
            <a:r>
              <a:rPr dirty="0" err="1"/>
              <a:t>prédire</a:t>
            </a:r>
            <a:r>
              <a:rPr dirty="0"/>
              <a:t> </a:t>
            </a:r>
            <a:r>
              <a:rPr dirty="0" err="1"/>
              <a:t>consommation</a:t>
            </a:r>
            <a:r>
              <a:rPr dirty="0"/>
              <a:t> et </a:t>
            </a:r>
            <a:r>
              <a:rPr dirty="0" err="1"/>
              <a:t>émissions</a:t>
            </a:r>
            <a:r>
              <a:rPr dirty="0"/>
              <a:t>.</a:t>
            </a:r>
          </a:p>
          <a:p>
            <a:r>
              <a:rPr dirty="0"/>
              <a:t>🧹 </a:t>
            </a:r>
            <a:r>
              <a:rPr dirty="0" err="1"/>
              <a:t>Nettoyage</a:t>
            </a:r>
            <a:r>
              <a:rPr dirty="0"/>
              <a:t> : exclusions des </a:t>
            </a:r>
            <a:r>
              <a:rPr dirty="0" err="1"/>
              <a:t>statuts</a:t>
            </a:r>
            <a:r>
              <a:rPr dirty="0"/>
              <a:t> </a:t>
            </a:r>
            <a:r>
              <a:rPr dirty="0" err="1"/>
              <a:t>erronés</a:t>
            </a:r>
            <a:r>
              <a:rPr dirty="0"/>
              <a:t> (Error, Missing, Non-Compliant, Outliers) pour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biais</a:t>
            </a:r>
            <a:r>
              <a:rPr dirty="0"/>
              <a:t>.</a:t>
            </a:r>
          </a:p>
          <a:p>
            <a:r>
              <a:rPr dirty="0"/>
              <a:t>📐 </a:t>
            </a:r>
            <a:r>
              <a:rPr dirty="0" err="1"/>
              <a:t>Modèles</a:t>
            </a:r>
            <a:r>
              <a:rPr dirty="0"/>
              <a:t> </a:t>
            </a:r>
            <a:r>
              <a:rPr dirty="0" err="1"/>
              <a:t>testés</a:t>
            </a:r>
            <a:r>
              <a:rPr dirty="0"/>
              <a:t> :</a:t>
            </a:r>
          </a:p>
          <a:p>
            <a:r>
              <a:rPr dirty="0"/>
              <a:t>   - </a:t>
            </a:r>
            <a:r>
              <a:rPr dirty="0" err="1"/>
              <a:t>Régression</a:t>
            </a:r>
            <a:r>
              <a:rPr dirty="0"/>
              <a:t> </a:t>
            </a:r>
            <a:r>
              <a:rPr dirty="0" err="1"/>
              <a:t>linéaire</a:t>
            </a:r>
            <a:r>
              <a:rPr dirty="0"/>
              <a:t> : relation </a:t>
            </a:r>
            <a:r>
              <a:rPr dirty="0" err="1"/>
              <a:t>supposée</a:t>
            </a:r>
            <a:r>
              <a:rPr dirty="0"/>
              <a:t> </a:t>
            </a:r>
            <a:r>
              <a:rPr dirty="0" err="1"/>
              <a:t>linéaire</a:t>
            </a:r>
            <a:r>
              <a:rPr dirty="0"/>
              <a:t>, </a:t>
            </a:r>
            <a:r>
              <a:rPr dirty="0" err="1"/>
              <a:t>résidus</a:t>
            </a:r>
            <a:r>
              <a:rPr dirty="0"/>
              <a:t> </a:t>
            </a:r>
            <a:r>
              <a:rPr dirty="0" err="1"/>
              <a:t>indépendants</a:t>
            </a:r>
            <a:r>
              <a:rPr dirty="0"/>
              <a:t>.</a:t>
            </a:r>
          </a:p>
          <a:p>
            <a:r>
              <a:rPr dirty="0"/>
              <a:t>   - Random Forest / </a:t>
            </a:r>
            <a:r>
              <a:rPr dirty="0" err="1"/>
              <a:t>XGBoost</a:t>
            </a:r>
            <a:r>
              <a:rPr dirty="0"/>
              <a:t> : patterns de 2016 stables et </a:t>
            </a:r>
            <a:r>
              <a:rPr dirty="0" err="1"/>
              <a:t>généralisables</a:t>
            </a:r>
            <a:r>
              <a:rPr dirty="0"/>
              <a:t>.</a:t>
            </a:r>
          </a:p>
          <a:p>
            <a:r>
              <a:rPr dirty="0"/>
              <a:t>⏳ </a:t>
            </a:r>
            <a:r>
              <a:rPr dirty="0" err="1"/>
              <a:t>Temporalité</a:t>
            </a:r>
            <a:r>
              <a:rPr dirty="0"/>
              <a:t> : distributions futures </a:t>
            </a:r>
            <a:r>
              <a:rPr dirty="0" err="1"/>
              <a:t>supposées</a:t>
            </a:r>
            <a:r>
              <a:rPr dirty="0"/>
              <a:t> </a:t>
            </a:r>
            <a:r>
              <a:rPr dirty="0" err="1"/>
              <a:t>proches</a:t>
            </a:r>
            <a:r>
              <a:rPr dirty="0"/>
              <a:t> des </a:t>
            </a:r>
            <a:r>
              <a:rPr dirty="0" err="1"/>
              <a:t>données</a:t>
            </a:r>
            <a:r>
              <a:rPr dirty="0"/>
              <a:t> 2016.</a:t>
            </a:r>
          </a:p>
          <a:p>
            <a:r>
              <a:rPr dirty="0"/>
              <a:t>⚡ Production : </a:t>
            </a:r>
            <a:r>
              <a:rPr dirty="0" err="1"/>
              <a:t>toutes</a:t>
            </a:r>
            <a:r>
              <a:rPr dirty="0"/>
              <a:t> les variables </a:t>
            </a:r>
            <a:r>
              <a:rPr dirty="0" err="1"/>
              <a:t>utilisées</a:t>
            </a:r>
            <a:r>
              <a:rPr dirty="0"/>
              <a:t> à </a:t>
            </a:r>
            <a:r>
              <a:rPr dirty="0" err="1"/>
              <a:t>l’entraînement</a:t>
            </a:r>
            <a:r>
              <a:rPr dirty="0"/>
              <a:t> </a:t>
            </a:r>
            <a:r>
              <a:rPr dirty="0" err="1"/>
              <a:t>seront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prédiction</a:t>
            </a:r>
            <a:r>
              <a:rPr dirty="0"/>
              <a:t> </a:t>
            </a:r>
            <a:r>
              <a:rPr dirty="0" err="1"/>
              <a:t>réelle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7627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/>
              <a:t>Conditions de </a:t>
            </a:r>
            <a:r>
              <a:rPr dirty="0" err="1"/>
              <a:t>validité</a:t>
            </a:r>
            <a:r>
              <a:rPr dirty="0"/>
              <a:t> et </a:t>
            </a:r>
            <a:r>
              <a:rPr dirty="0" err="1"/>
              <a:t>postulats</a:t>
            </a:r>
            <a:r>
              <a:rPr dirty="0"/>
              <a:t> </a:t>
            </a:r>
            <a:r>
              <a:rPr dirty="0" err="1"/>
              <a:t>retenus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70"/>
            <a:ext cx="8229600" cy="713467"/>
          </a:xfrm>
        </p:spPr>
        <p:txBody>
          <a:bodyPr>
            <a:normAutofit fontScale="90000"/>
          </a:bodyPr>
          <a:lstStyle/>
          <a:p>
            <a:r>
              <a:rPr dirty="0" err="1"/>
              <a:t>Approche</a:t>
            </a:r>
            <a:r>
              <a:rPr dirty="0"/>
              <a:t> de </a:t>
            </a:r>
            <a:r>
              <a:rPr dirty="0" err="1"/>
              <a:t>modélisation</a:t>
            </a:r>
            <a:r>
              <a:rPr dirty="0"/>
              <a:t> </a:t>
            </a:r>
            <a:r>
              <a:rPr dirty="0" err="1"/>
              <a:t>supervisée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0170"/>
            <a:ext cx="9144000" cy="5687830"/>
          </a:xfrm>
        </p:spPr>
        <p:txBody>
          <a:bodyPr>
            <a:normAutofit/>
          </a:bodyPr>
          <a:lstStyle/>
          <a:p>
            <a:r>
              <a:rPr dirty="0"/>
              <a:t>✔️ Baselines </a:t>
            </a:r>
            <a:r>
              <a:rPr dirty="0" err="1"/>
              <a:t>linéaires</a:t>
            </a:r>
            <a:r>
              <a:rPr dirty="0"/>
              <a:t> : Lasso, </a:t>
            </a:r>
            <a:r>
              <a:rPr dirty="0" err="1"/>
              <a:t>ElasticNet</a:t>
            </a:r>
            <a:r>
              <a:rPr dirty="0"/>
              <a:t> – </a:t>
            </a:r>
            <a:r>
              <a:rPr dirty="0" err="1"/>
              <a:t>référence</a:t>
            </a:r>
            <a:r>
              <a:rPr dirty="0"/>
              <a:t> </a:t>
            </a:r>
            <a:r>
              <a:rPr dirty="0" err="1"/>
              <a:t>interprétable</a:t>
            </a:r>
            <a:endParaRPr dirty="0"/>
          </a:p>
          <a:p>
            <a:r>
              <a:rPr dirty="0"/>
              <a:t>✔️ </a:t>
            </a:r>
            <a:r>
              <a:rPr dirty="0" err="1"/>
              <a:t>Arbres</a:t>
            </a:r>
            <a:r>
              <a:rPr dirty="0"/>
              <a:t> et ensembles simples : Decision Tree, Bagging, Random Forest</a:t>
            </a:r>
          </a:p>
          <a:p>
            <a:r>
              <a:rPr dirty="0"/>
              <a:t>✔️ Boosting </a:t>
            </a:r>
            <a:r>
              <a:rPr dirty="0" err="1"/>
              <a:t>avancé</a:t>
            </a:r>
            <a:r>
              <a:rPr dirty="0"/>
              <a:t> : Gradient Boosting, AdaBoost,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CatBoost</a:t>
            </a:r>
            <a:endParaRPr dirty="0"/>
          </a:p>
          <a:p>
            <a:r>
              <a:rPr dirty="0"/>
              <a:t>✔️ Transformation log de la target : </a:t>
            </a:r>
            <a:r>
              <a:rPr dirty="0" err="1"/>
              <a:t>stabilise</a:t>
            </a:r>
            <a:r>
              <a:rPr dirty="0"/>
              <a:t> la variance et </a:t>
            </a:r>
            <a:r>
              <a:rPr dirty="0" err="1"/>
              <a:t>réduit</a:t>
            </a:r>
            <a:r>
              <a:rPr dirty="0"/>
              <a:t> </a:t>
            </a:r>
            <a:r>
              <a:rPr dirty="0" err="1"/>
              <a:t>l’effet</a:t>
            </a:r>
            <a:r>
              <a:rPr dirty="0"/>
              <a:t> des outliers</a:t>
            </a:r>
          </a:p>
          <a:p>
            <a:r>
              <a:rPr dirty="0"/>
              <a:t>🎯 Objectif : comparer performance / </a:t>
            </a:r>
            <a:r>
              <a:rPr dirty="0" err="1"/>
              <a:t>complexité</a:t>
            </a:r>
            <a:r>
              <a:rPr dirty="0"/>
              <a:t> et </a:t>
            </a:r>
            <a:r>
              <a:rPr dirty="0" err="1"/>
              <a:t>retenir</a:t>
            </a:r>
            <a:r>
              <a:rPr dirty="0"/>
              <a:t> le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compromis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76812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/>
              <a:t>De </a:t>
            </a:r>
            <a:r>
              <a:rPr dirty="0" err="1"/>
              <a:t>modèles</a:t>
            </a:r>
            <a:r>
              <a:rPr dirty="0"/>
              <a:t> baselines </a:t>
            </a:r>
            <a:r>
              <a:rPr dirty="0" err="1"/>
              <a:t>linéaires</a:t>
            </a:r>
            <a:r>
              <a:rPr dirty="0"/>
              <a:t> aux ensembles </a:t>
            </a:r>
            <a:r>
              <a:rPr dirty="0" err="1"/>
              <a:t>avancés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7191"/>
          </a:xfrm>
        </p:spPr>
        <p:txBody>
          <a:bodyPr>
            <a:normAutofit fontScale="90000"/>
          </a:bodyPr>
          <a:lstStyle/>
          <a:p>
            <a:r>
              <a:rPr dirty="0"/>
              <a:t>Validation </a:t>
            </a:r>
            <a:r>
              <a:rPr dirty="0" err="1"/>
              <a:t>croisée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1486"/>
            <a:ext cx="9144000" cy="5856514"/>
          </a:xfrm>
        </p:spPr>
        <p:txBody>
          <a:bodyPr>
            <a:normAutofit fontScale="92500"/>
          </a:bodyPr>
          <a:lstStyle/>
          <a:p>
            <a:r>
              <a:rPr dirty="0"/>
              <a:t>✔️ Split train/test </a:t>
            </a:r>
            <a:r>
              <a:rPr b="1" dirty="0" err="1"/>
              <a:t>stratifié</a:t>
            </a:r>
            <a:r>
              <a:rPr dirty="0"/>
              <a:t> sur quantiles de la target</a:t>
            </a:r>
          </a:p>
          <a:p>
            <a:r>
              <a:rPr dirty="0"/>
              <a:t>✔️ </a:t>
            </a:r>
            <a:r>
              <a:rPr b="1" dirty="0" err="1"/>
              <a:t>RepeatedKFold</a:t>
            </a:r>
            <a:r>
              <a:rPr b="1" dirty="0"/>
              <a:t> (5×3) </a:t>
            </a:r>
            <a:r>
              <a:rPr dirty="0"/>
              <a:t>: </a:t>
            </a:r>
            <a:r>
              <a:rPr dirty="0" err="1"/>
              <a:t>utilisé</a:t>
            </a:r>
            <a:r>
              <a:rPr dirty="0"/>
              <a:t> pour les </a:t>
            </a:r>
            <a:r>
              <a:rPr dirty="0" err="1"/>
              <a:t>modèles</a:t>
            </a:r>
            <a:r>
              <a:rPr dirty="0"/>
              <a:t> </a:t>
            </a:r>
            <a:r>
              <a:rPr dirty="0" err="1"/>
              <a:t>linéaires</a:t>
            </a:r>
            <a:r>
              <a:rPr dirty="0"/>
              <a:t> (Lasso, </a:t>
            </a:r>
            <a:r>
              <a:rPr dirty="0" err="1"/>
              <a:t>ElasticNet</a:t>
            </a:r>
            <a:r>
              <a:rPr dirty="0"/>
              <a:t>)</a:t>
            </a:r>
          </a:p>
          <a:p>
            <a:r>
              <a:rPr dirty="0"/>
              <a:t>✔️ </a:t>
            </a:r>
            <a:r>
              <a:rPr b="1" dirty="0" err="1"/>
              <a:t>StratifiedKFold</a:t>
            </a:r>
            <a:r>
              <a:rPr b="1" dirty="0"/>
              <a:t> sur bins (y </a:t>
            </a:r>
            <a:r>
              <a:rPr b="1" dirty="0" err="1"/>
              <a:t>ou</a:t>
            </a:r>
            <a:r>
              <a:rPr b="1" dirty="0"/>
              <a:t> log(y)) </a:t>
            </a:r>
            <a:r>
              <a:rPr dirty="0"/>
              <a:t>: </a:t>
            </a:r>
            <a:r>
              <a:rPr dirty="0" err="1"/>
              <a:t>utilisé</a:t>
            </a:r>
            <a:r>
              <a:rPr dirty="0"/>
              <a:t> pour </a:t>
            </a:r>
            <a:r>
              <a:rPr dirty="0" err="1"/>
              <a:t>arbres</a:t>
            </a:r>
            <a:r>
              <a:rPr dirty="0"/>
              <a:t> et ensembles</a:t>
            </a:r>
          </a:p>
          <a:p>
            <a:r>
              <a:rPr dirty="0"/>
              <a:t>✔️ </a:t>
            </a:r>
            <a:r>
              <a:rPr dirty="0" err="1"/>
              <a:t>Intérêt</a:t>
            </a:r>
            <a:r>
              <a:rPr dirty="0"/>
              <a:t> :</a:t>
            </a:r>
          </a:p>
          <a:p>
            <a:r>
              <a:rPr dirty="0"/>
              <a:t>   - </a:t>
            </a:r>
            <a:r>
              <a:rPr dirty="0" err="1"/>
              <a:t>Réduire</a:t>
            </a:r>
            <a:r>
              <a:rPr dirty="0"/>
              <a:t> la variance des scores</a:t>
            </a:r>
          </a:p>
          <a:p>
            <a:r>
              <a:rPr dirty="0"/>
              <a:t>   - Assurer </a:t>
            </a:r>
            <a:r>
              <a:rPr dirty="0" err="1"/>
              <a:t>représentativité</a:t>
            </a:r>
            <a:r>
              <a:rPr dirty="0"/>
              <a:t> des folds, y </a:t>
            </a:r>
            <a:r>
              <a:rPr dirty="0" err="1"/>
              <a:t>compris</a:t>
            </a:r>
            <a:r>
              <a:rPr dirty="0"/>
              <a:t> </a:t>
            </a:r>
            <a:r>
              <a:rPr dirty="0" err="1"/>
              <a:t>extrêmes</a:t>
            </a:r>
            <a:endParaRPr dirty="0"/>
          </a:p>
          <a:p>
            <a:r>
              <a:rPr dirty="0"/>
              <a:t>   - </a:t>
            </a:r>
            <a:r>
              <a:rPr dirty="0" err="1"/>
              <a:t>Prévenir</a:t>
            </a:r>
            <a:r>
              <a:rPr dirty="0"/>
              <a:t> le sur-</a:t>
            </a:r>
            <a:r>
              <a:rPr dirty="0" err="1"/>
              <a:t>apprentissage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présence</a:t>
            </a:r>
            <a:r>
              <a:rPr dirty="0"/>
              <a:t> de distributions skewed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67191"/>
            <a:ext cx="36866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Adapter la validation à la distribution heavy-tail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81"/>
            <a:ext cx="8229600" cy="581705"/>
          </a:xfrm>
        </p:spPr>
        <p:txBody>
          <a:bodyPr>
            <a:normAutofit fontScale="90000"/>
          </a:bodyPr>
          <a:lstStyle/>
          <a:p>
            <a:r>
              <a:rPr dirty="0" err="1"/>
              <a:t>Comparaison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r>
              <a:rPr dirty="0"/>
              <a:t>✔️ </a:t>
            </a:r>
            <a:r>
              <a:rPr b="1" dirty="0" err="1"/>
              <a:t>Métriques</a:t>
            </a:r>
            <a:r>
              <a:rPr dirty="0"/>
              <a:t> : MAE, RMSE, R² Test, R² Cross-Validation</a:t>
            </a:r>
          </a:p>
          <a:p>
            <a:r>
              <a:rPr dirty="0"/>
              <a:t>✔️ </a:t>
            </a:r>
            <a:r>
              <a:rPr dirty="0" err="1"/>
              <a:t>Chaque</a:t>
            </a:r>
            <a:r>
              <a:rPr dirty="0"/>
              <a:t> pipeline </a:t>
            </a:r>
            <a:r>
              <a:rPr dirty="0" err="1"/>
              <a:t>évalué</a:t>
            </a:r>
            <a:r>
              <a:rPr dirty="0"/>
              <a:t> par validation </a:t>
            </a:r>
            <a:r>
              <a:rPr dirty="0" err="1"/>
              <a:t>croisée</a:t>
            </a:r>
            <a:endParaRPr dirty="0"/>
          </a:p>
          <a:p>
            <a:r>
              <a:rPr dirty="0"/>
              <a:t>✔️ </a:t>
            </a:r>
            <a:r>
              <a:rPr dirty="0" err="1"/>
              <a:t>Modèles</a:t>
            </a:r>
            <a:r>
              <a:rPr dirty="0"/>
              <a:t> </a:t>
            </a:r>
            <a:r>
              <a:rPr dirty="0" err="1"/>
              <a:t>linéaires</a:t>
            </a:r>
            <a:r>
              <a:rPr dirty="0"/>
              <a:t> (Lasso, </a:t>
            </a:r>
            <a:r>
              <a:rPr dirty="0" err="1"/>
              <a:t>ElasticNet</a:t>
            </a:r>
            <a:r>
              <a:rPr dirty="0"/>
              <a:t>) = baseline </a:t>
            </a:r>
            <a:r>
              <a:rPr dirty="0" err="1"/>
              <a:t>interprétable</a:t>
            </a:r>
            <a:endParaRPr dirty="0"/>
          </a:p>
          <a:p>
            <a:r>
              <a:rPr dirty="0"/>
              <a:t>✔️ Ensembles (Random Forest,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CatBoost</a:t>
            </a:r>
            <a:r>
              <a:rPr dirty="0"/>
              <a:t>) = </a:t>
            </a:r>
            <a:r>
              <a:rPr dirty="0" err="1"/>
              <a:t>meilleures</a:t>
            </a:r>
            <a:r>
              <a:rPr dirty="0"/>
              <a:t> performances </a:t>
            </a:r>
            <a:r>
              <a:rPr dirty="0" err="1"/>
              <a:t>globales</a:t>
            </a:r>
            <a:endParaRPr dirty="0"/>
          </a:p>
          <a:p>
            <a:r>
              <a:rPr dirty="0"/>
              <a:t>🎯 </a:t>
            </a:r>
            <a:r>
              <a:rPr dirty="0" err="1"/>
              <a:t>Critère</a:t>
            </a:r>
            <a:r>
              <a:rPr dirty="0"/>
              <a:t> principal : </a:t>
            </a:r>
            <a:r>
              <a:rPr dirty="0" err="1"/>
              <a:t>équilibre</a:t>
            </a:r>
            <a:r>
              <a:rPr dirty="0"/>
              <a:t> entre </a:t>
            </a:r>
            <a:r>
              <a:rPr dirty="0" err="1"/>
              <a:t>robustesse</a:t>
            </a:r>
            <a:r>
              <a:rPr dirty="0"/>
              <a:t> et non-</a:t>
            </a:r>
            <a:r>
              <a:rPr dirty="0" err="1"/>
              <a:t>linéarité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73183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Évaluer</a:t>
            </a:r>
            <a:r>
              <a:rPr dirty="0"/>
              <a:t> </a:t>
            </a:r>
            <a:r>
              <a:rPr dirty="0" err="1"/>
              <a:t>robustesse</a:t>
            </a:r>
            <a:r>
              <a:rPr dirty="0"/>
              <a:t> et </a:t>
            </a:r>
            <a:r>
              <a:rPr dirty="0" err="1"/>
              <a:t>capacité</a:t>
            </a:r>
            <a:r>
              <a:rPr dirty="0"/>
              <a:t> de </a:t>
            </a:r>
            <a:r>
              <a:rPr dirty="0" err="1"/>
              <a:t>généralisation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05C9-B831-8F66-65F3-24295B59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0"/>
            <a:ext cx="5842000" cy="457199"/>
          </a:xfrm>
        </p:spPr>
        <p:txBody>
          <a:bodyPr>
            <a:normAutofit fontScale="90000"/>
          </a:bodyPr>
          <a:lstStyle/>
          <a:p>
            <a:r>
              <a:rPr lang="fr-FR" dirty="0"/>
              <a:t>Métriques de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772A0-3F66-454A-D734-FBCFBB8BC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571"/>
            <a:ext cx="9144000" cy="6277429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/>
              <a:t>MAE (</a:t>
            </a:r>
            <a:r>
              <a:rPr lang="fr-FR" b="1" dirty="0" err="1"/>
              <a:t>Mean</a:t>
            </a:r>
            <a:r>
              <a:rPr lang="fr-FR" b="1" dirty="0"/>
              <a:t> </a:t>
            </a:r>
            <a:r>
              <a:rPr lang="fr-FR" b="1" dirty="0" err="1"/>
              <a:t>Absolute</a:t>
            </a:r>
            <a:r>
              <a:rPr lang="fr-FR" b="1" dirty="0"/>
              <a:t> </a:t>
            </a:r>
            <a:r>
              <a:rPr lang="fr-FR" b="1" dirty="0" err="1"/>
              <a:t>Error</a:t>
            </a:r>
            <a:r>
              <a:rPr lang="fr-FR" b="1" dirty="0"/>
              <a:t>)</a:t>
            </a:r>
            <a:br>
              <a:rPr lang="fr-FR" dirty="0"/>
            </a:br>
            <a:r>
              <a:rPr lang="fr-FR" dirty="0"/>
              <a:t>Moyenne des écarts absolus entre les valeurs réelles et les valeurs prédites.</a:t>
            </a:r>
            <a:br>
              <a:rPr lang="fr-FR" dirty="0"/>
            </a:br>
            <a:r>
              <a:rPr lang="fr-FR" dirty="0"/>
              <a:t>→ En moyenne, le modèle se trompe de </a:t>
            </a:r>
            <a:r>
              <a:rPr lang="fr-FR" i="1" dirty="0"/>
              <a:t>X unités</a:t>
            </a:r>
            <a:r>
              <a:rPr lang="fr-FR" dirty="0"/>
              <a:t> dans ses prédictions.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Relative MAE</a:t>
            </a:r>
            <a:br>
              <a:rPr lang="fr-FR" dirty="0"/>
            </a:br>
            <a:r>
              <a:rPr lang="fr-FR" dirty="0"/>
              <a:t>Ratio entre MAE et la moyenne de la cible (ou une autre référence).</a:t>
            </a:r>
            <a:br>
              <a:rPr lang="fr-FR" dirty="0"/>
            </a:br>
            <a:r>
              <a:rPr lang="fr-FR" dirty="0"/>
              <a:t>→ Permet d’interpréter l’erreur en pourcentage relatif plutôt qu’en valeur brute.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RMSE (Root </a:t>
            </a:r>
            <a:r>
              <a:rPr lang="fr-FR" b="1" dirty="0" err="1"/>
              <a:t>Mean</a:t>
            </a:r>
            <a:r>
              <a:rPr lang="fr-FR" b="1" dirty="0"/>
              <a:t> </a:t>
            </a:r>
            <a:r>
              <a:rPr lang="fr-FR" b="1" dirty="0" err="1"/>
              <a:t>Squared</a:t>
            </a:r>
            <a:r>
              <a:rPr lang="fr-FR" b="1" dirty="0"/>
              <a:t> </a:t>
            </a:r>
            <a:r>
              <a:rPr lang="fr-FR" b="1" dirty="0" err="1"/>
              <a:t>Error</a:t>
            </a:r>
            <a:r>
              <a:rPr lang="fr-FR" b="1" dirty="0"/>
              <a:t>)</a:t>
            </a:r>
            <a:br>
              <a:rPr lang="fr-FR" dirty="0"/>
            </a:br>
            <a:r>
              <a:rPr lang="fr-FR" dirty="0"/>
              <a:t>Racine carrée de la moyenne des carrés des erreurs.</a:t>
            </a:r>
            <a:br>
              <a:rPr lang="fr-FR" dirty="0"/>
            </a:br>
            <a:r>
              <a:rPr lang="fr-FR" dirty="0"/>
              <a:t>→ Donne plus de poids aux grandes erreurs (sensible aux </a:t>
            </a:r>
            <a:r>
              <a:rPr lang="fr-FR" dirty="0" err="1"/>
              <a:t>outliers</a:t>
            </a:r>
            <a:r>
              <a:rPr lang="fr-FR" dirty="0"/>
              <a:t>).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R² (Coefficient de détermination)</a:t>
            </a:r>
            <a:br>
              <a:rPr lang="fr-FR" dirty="0"/>
            </a:br>
            <a:r>
              <a:rPr lang="fr-FR" dirty="0"/>
              <a:t>Mesure la proportion de variance expliquée par le modèle (entre 0 et 1).</a:t>
            </a:r>
            <a:br>
              <a:rPr lang="fr-FR" dirty="0"/>
            </a:br>
            <a:r>
              <a:rPr lang="fr-FR" dirty="0"/>
              <a:t>→ Plus R² est proche de 1, plus le modèle explique bien la variabilité de la cible.</a:t>
            </a:r>
            <a:br>
              <a:rPr lang="fr-FR" dirty="0"/>
            </a:br>
            <a:endParaRPr lang="fr-FR" dirty="0"/>
          </a:p>
          <a:p>
            <a:r>
              <a:rPr lang="fr-FR" b="1" dirty="0" err="1"/>
              <a:t>MedAE</a:t>
            </a:r>
            <a:r>
              <a:rPr lang="fr-FR" b="1" dirty="0"/>
              <a:t> (</a:t>
            </a:r>
            <a:r>
              <a:rPr lang="fr-FR" b="1" dirty="0" err="1"/>
              <a:t>Median</a:t>
            </a:r>
            <a:r>
              <a:rPr lang="fr-FR" b="1" dirty="0"/>
              <a:t> </a:t>
            </a:r>
            <a:r>
              <a:rPr lang="fr-FR" b="1" dirty="0" err="1"/>
              <a:t>Absolute</a:t>
            </a:r>
            <a:r>
              <a:rPr lang="fr-FR" b="1" dirty="0"/>
              <a:t> </a:t>
            </a:r>
            <a:r>
              <a:rPr lang="fr-FR" b="1" dirty="0" err="1"/>
              <a:t>Error</a:t>
            </a:r>
            <a:r>
              <a:rPr lang="fr-FR" b="1" dirty="0"/>
              <a:t>)</a:t>
            </a:r>
            <a:br>
              <a:rPr lang="fr-FR" dirty="0"/>
            </a:br>
            <a:r>
              <a:rPr lang="fr-FR" dirty="0"/>
              <a:t>Médiane des erreurs absolues.</a:t>
            </a:r>
            <a:br>
              <a:rPr lang="fr-FR" dirty="0"/>
            </a:br>
            <a:r>
              <a:rPr lang="fr-FR" dirty="0"/>
              <a:t>→ Représente une “erreur typique” moins influencée par les valeurs extrêmes.</a:t>
            </a:r>
          </a:p>
        </p:txBody>
      </p:sp>
    </p:spTree>
    <p:extLst>
      <p:ext uri="{BB962C8B-B14F-4D97-AF65-F5344CB8AC3E}">
        <p14:creationId xmlns:p14="http://schemas.microsoft.com/office/powerpoint/2010/main" val="2330209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9"/>
            <a:ext cx="8229600" cy="731837"/>
          </a:xfrm>
        </p:spPr>
        <p:txBody>
          <a:bodyPr>
            <a:normAutofit fontScale="90000"/>
          </a:bodyPr>
          <a:lstStyle/>
          <a:p>
            <a:r>
              <a:rPr dirty="0" err="1"/>
              <a:t>Optimisation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7258"/>
            <a:ext cx="9144000" cy="5580742"/>
          </a:xfrm>
        </p:spPr>
        <p:txBody>
          <a:bodyPr>
            <a:normAutofit/>
          </a:bodyPr>
          <a:lstStyle/>
          <a:p>
            <a:r>
              <a:rPr dirty="0"/>
              <a:t>✔️ </a:t>
            </a:r>
            <a:r>
              <a:rPr b="1" dirty="0" err="1"/>
              <a:t>GridSearchCV</a:t>
            </a:r>
            <a:r>
              <a:rPr dirty="0"/>
              <a:t> : recherche exhaustive sur petits </a:t>
            </a:r>
            <a:r>
              <a:rPr dirty="0" err="1"/>
              <a:t>espaces</a:t>
            </a:r>
            <a:r>
              <a:rPr dirty="0"/>
              <a:t> (</a:t>
            </a:r>
            <a:r>
              <a:rPr dirty="0" err="1"/>
              <a:t>ElasticNet</a:t>
            </a:r>
            <a:r>
              <a:rPr dirty="0"/>
              <a:t>, Decision Tree)</a:t>
            </a:r>
          </a:p>
          <a:p>
            <a:r>
              <a:rPr dirty="0"/>
              <a:t>✔️ </a:t>
            </a:r>
            <a:r>
              <a:rPr b="1" dirty="0" err="1"/>
              <a:t>Optuna</a:t>
            </a:r>
            <a:r>
              <a:rPr dirty="0"/>
              <a:t> : </a:t>
            </a:r>
            <a:r>
              <a:rPr dirty="0" err="1"/>
              <a:t>optimisation</a:t>
            </a:r>
            <a:r>
              <a:rPr dirty="0"/>
              <a:t> </a:t>
            </a:r>
            <a:r>
              <a:rPr dirty="0" err="1"/>
              <a:t>avancée</a:t>
            </a:r>
            <a:r>
              <a:rPr dirty="0"/>
              <a:t> via recherche </a:t>
            </a:r>
            <a:r>
              <a:rPr dirty="0" err="1"/>
              <a:t>bayésienne</a:t>
            </a:r>
            <a:endParaRPr dirty="0"/>
          </a:p>
          <a:p>
            <a:r>
              <a:rPr dirty="0"/>
              <a:t>   → </a:t>
            </a:r>
            <a:r>
              <a:rPr dirty="0" err="1"/>
              <a:t>efficace</a:t>
            </a:r>
            <a:r>
              <a:rPr dirty="0"/>
              <a:t> sur </a:t>
            </a:r>
            <a:r>
              <a:rPr dirty="0" err="1"/>
              <a:t>espaces</a:t>
            </a:r>
            <a:r>
              <a:rPr dirty="0"/>
              <a:t> complexes (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CatBoost</a:t>
            </a:r>
            <a:r>
              <a:rPr dirty="0"/>
              <a:t>)</a:t>
            </a:r>
          </a:p>
          <a:p>
            <a:r>
              <a:rPr dirty="0"/>
              <a:t>✔️ Objectif : </a:t>
            </a:r>
            <a:r>
              <a:rPr dirty="0" err="1"/>
              <a:t>améliorer</a:t>
            </a:r>
            <a:r>
              <a:rPr dirty="0"/>
              <a:t> la performance </a:t>
            </a:r>
            <a:r>
              <a:rPr dirty="0" err="1"/>
              <a:t>prédictive</a:t>
            </a:r>
            <a:r>
              <a:rPr dirty="0"/>
              <a:t> et </a:t>
            </a:r>
            <a:r>
              <a:rPr dirty="0" err="1"/>
              <a:t>réduire</a:t>
            </a:r>
            <a:r>
              <a:rPr dirty="0"/>
              <a:t> le sur-</a:t>
            </a:r>
            <a:r>
              <a:rPr dirty="0" err="1"/>
              <a:t>apprentissage</a:t>
            </a:r>
            <a:endParaRPr dirty="0"/>
          </a:p>
          <a:p>
            <a:r>
              <a:rPr dirty="0"/>
              <a:t>🎯 </a:t>
            </a:r>
            <a:r>
              <a:rPr dirty="0" err="1"/>
              <a:t>Résultat</a:t>
            </a:r>
            <a:r>
              <a:rPr dirty="0"/>
              <a:t> : </a:t>
            </a:r>
            <a:r>
              <a:rPr dirty="0" err="1"/>
              <a:t>meilleurs</a:t>
            </a:r>
            <a:r>
              <a:rPr dirty="0"/>
              <a:t> </a:t>
            </a:r>
            <a:r>
              <a:rPr dirty="0" err="1"/>
              <a:t>compromis</a:t>
            </a:r>
            <a:r>
              <a:rPr dirty="0"/>
              <a:t> </a:t>
            </a:r>
            <a:r>
              <a:rPr dirty="0" err="1"/>
              <a:t>biais</a:t>
            </a:r>
            <a:r>
              <a:rPr dirty="0"/>
              <a:t>/variance, gains sur R²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67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Ajustement</a:t>
            </a:r>
            <a:r>
              <a:rPr dirty="0"/>
              <a:t> fin des </a:t>
            </a:r>
            <a:r>
              <a:rPr dirty="0" err="1"/>
              <a:t>hyperparamètres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Résultats</a:t>
            </a:r>
            <a:r>
              <a:rPr dirty="0"/>
              <a:t> – </a:t>
            </a:r>
            <a:r>
              <a:rPr lang="fr-FR" dirty="0"/>
              <a:t>Performances</a:t>
            </a:r>
            <a:r>
              <a:rPr dirty="0"/>
              <a:t> des </a:t>
            </a:r>
            <a:r>
              <a:rPr dirty="0" err="1"/>
              <a:t>modèles</a:t>
            </a:r>
            <a:r>
              <a:rPr lang="fr-FR" dirty="0"/>
              <a:t> Co² ( jeu de test )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42521"/>
              </p:ext>
            </p:extLst>
          </p:nvPr>
        </p:nvGraphicFramePr>
        <p:xfrm>
          <a:off x="0" y="1186542"/>
          <a:ext cx="9144000" cy="6914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8216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1658981"/>
                    </a:ext>
                  </a:extLst>
                </a:gridCol>
              </a:tblGrid>
              <a:tr h="613229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 err="1"/>
                        <a:t>Modèle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 err="1"/>
                        <a:t>RelMAE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 err="1"/>
                        <a:t>MEdMAE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/>
                        <a:t>RMSE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/>
                        <a:t>R²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/>
                        <a:t>Lasso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203.7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1.16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105.3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409.7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ElasticNet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147.8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0.85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73.4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361.9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/>
                        <a:t>Decision Tree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126.7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0.72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35.0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336.7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/>
                        <a:t>Bagging </a:t>
                      </a:r>
                      <a:r>
                        <a:rPr lang="fr-FR" dirty="0" err="1"/>
                        <a:t>Trees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106.4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29.1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384.5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Random</a:t>
                      </a:r>
                      <a:r>
                        <a:rPr lang="fr-FR" dirty="0"/>
                        <a:t> Forest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95.4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31.2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233.6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0.83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AdaBoost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90.5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31.8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259.0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0.79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771700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GradientBoost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116.0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28.6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351.0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0.62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75588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1800" b="0" dirty="0" err="1">
                          <a:solidFill>
                            <a:schemeClr val="tx1"/>
                          </a:solidFill>
                        </a:rPr>
                        <a:t>XGBoost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101.0</a:t>
                      </a:r>
                      <a:endParaRPr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0.58</a:t>
                      </a:r>
                      <a:endParaRPr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33.5</a:t>
                      </a:r>
                      <a:endParaRPr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254.5</a:t>
                      </a:r>
                      <a:endParaRPr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0.80</a:t>
                      </a:r>
                      <a:endParaRPr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50204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112.1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34.3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342.0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6699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2800" b="1" i="0" kern="120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84.3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0.48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31.7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220.4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0.85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67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932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90360B-7216-1B5D-870E-E8D3B176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4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706FC-9DAB-242D-54BB-F1043645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1" y="0"/>
            <a:ext cx="5775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81"/>
            <a:ext cx="8229600" cy="973590"/>
          </a:xfrm>
        </p:spPr>
        <p:txBody>
          <a:bodyPr>
            <a:normAutofit fontScale="90000"/>
          </a:bodyPr>
          <a:lstStyle/>
          <a:p>
            <a:r>
              <a:rPr dirty="0" err="1"/>
              <a:t>CatBoost</a:t>
            </a:r>
            <a:r>
              <a:rPr dirty="0"/>
              <a:t> : Performances &amp; </a:t>
            </a:r>
            <a:r>
              <a:rPr dirty="0" err="1"/>
              <a:t>Hyperparamètres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✔️ Meilleur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retenu</a:t>
            </a:r>
            <a:r>
              <a:rPr dirty="0"/>
              <a:t> : </a:t>
            </a:r>
            <a:r>
              <a:rPr dirty="0" err="1"/>
              <a:t>CatBoost</a:t>
            </a:r>
            <a:r>
              <a:rPr dirty="0"/>
              <a:t> (boosting </a:t>
            </a:r>
            <a:r>
              <a:rPr dirty="0" err="1"/>
              <a:t>d’arbres</a:t>
            </a:r>
            <a:r>
              <a:rPr dirty="0"/>
              <a:t>)</a:t>
            </a:r>
          </a:p>
          <a:p>
            <a:r>
              <a:rPr dirty="0"/>
              <a:t>✔️ </a:t>
            </a:r>
            <a:r>
              <a:rPr dirty="0" err="1"/>
              <a:t>Hyperparamètres</a:t>
            </a:r>
            <a:r>
              <a:rPr dirty="0"/>
              <a:t> </a:t>
            </a:r>
            <a:r>
              <a:rPr dirty="0" err="1"/>
              <a:t>optimisés</a:t>
            </a:r>
            <a:r>
              <a:rPr dirty="0"/>
              <a:t> (</a:t>
            </a:r>
            <a:r>
              <a:rPr dirty="0" err="1"/>
              <a:t>Optuna</a:t>
            </a:r>
            <a:r>
              <a:rPr dirty="0"/>
              <a:t>) :</a:t>
            </a:r>
          </a:p>
          <a:p>
            <a:r>
              <a:rPr dirty="0"/>
              <a:t>   - </a:t>
            </a:r>
            <a:r>
              <a:rPr dirty="0" err="1"/>
              <a:t>border_count</a:t>
            </a:r>
            <a:r>
              <a:rPr dirty="0"/>
              <a:t> = 64</a:t>
            </a:r>
          </a:p>
          <a:p>
            <a:r>
              <a:rPr dirty="0"/>
              <a:t>   - </a:t>
            </a:r>
            <a:r>
              <a:rPr dirty="0" err="1"/>
              <a:t>eval_metric</a:t>
            </a:r>
            <a:r>
              <a:rPr dirty="0"/>
              <a:t> = R², </a:t>
            </a:r>
            <a:r>
              <a:rPr dirty="0" err="1"/>
              <a:t>grow_policy</a:t>
            </a:r>
            <a:r>
              <a:rPr dirty="0"/>
              <a:t> = </a:t>
            </a:r>
            <a:r>
              <a:rPr dirty="0" err="1"/>
              <a:t>Depthwise</a:t>
            </a:r>
            <a:endParaRPr dirty="0"/>
          </a:p>
          <a:p>
            <a:r>
              <a:rPr dirty="0"/>
              <a:t>   - iterations = 589, </a:t>
            </a:r>
            <a:r>
              <a:rPr dirty="0" err="1"/>
              <a:t>max_depth</a:t>
            </a:r>
            <a:r>
              <a:rPr dirty="0"/>
              <a:t> = 3</a:t>
            </a:r>
          </a:p>
          <a:p>
            <a:r>
              <a:rPr dirty="0"/>
              <a:t>   - </a:t>
            </a:r>
            <a:r>
              <a:rPr dirty="0" err="1"/>
              <a:t>learning_rate</a:t>
            </a:r>
            <a:r>
              <a:rPr dirty="0"/>
              <a:t> = 0.149, l2_leaf_reg = 0.035</a:t>
            </a:r>
          </a:p>
          <a:p>
            <a:r>
              <a:rPr dirty="0"/>
              <a:t>   - </a:t>
            </a:r>
            <a:r>
              <a:rPr dirty="0" err="1"/>
              <a:t>loss_function</a:t>
            </a:r>
            <a:r>
              <a:rPr dirty="0"/>
              <a:t> = RMSE, </a:t>
            </a:r>
            <a:r>
              <a:rPr dirty="0" err="1"/>
              <a:t>rsm</a:t>
            </a:r>
            <a:r>
              <a:rPr dirty="0"/>
              <a:t> = 0.753</a:t>
            </a:r>
          </a:p>
          <a:p>
            <a:r>
              <a:rPr dirty="0"/>
              <a:t>✔️ </a:t>
            </a:r>
            <a:r>
              <a:rPr b="1" dirty="0"/>
              <a:t>Performances test</a:t>
            </a:r>
            <a:r>
              <a:rPr dirty="0"/>
              <a:t> :</a:t>
            </a:r>
          </a:p>
          <a:p>
            <a:r>
              <a:rPr dirty="0"/>
              <a:t>   - MAE = 84.3</a:t>
            </a:r>
          </a:p>
          <a:p>
            <a:r>
              <a:rPr dirty="0"/>
              <a:t>   - RMSE = 220.5</a:t>
            </a:r>
          </a:p>
          <a:p>
            <a:r>
              <a:rPr dirty="0"/>
              <a:t>   - R² = 0.852</a:t>
            </a:r>
          </a:p>
          <a:p>
            <a:r>
              <a:rPr dirty="0"/>
              <a:t>   - </a:t>
            </a:r>
            <a:r>
              <a:rPr dirty="0" err="1"/>
              <a:t>MedAE</a:t>
            </a:r>
            <a:r>
              <a:rPr dirty="0"/>
              <a:t> = 31.7</a:t>
            </a:r>
          </a:p>
          <a:p>
            <a:r>
              <a:rPr dirty="0"/>
              <a:t>   - </a:t>
            </a:r>
            <a:r>
              <a:rPr dirty="0" err="1"/>
              <a:t>RelMAE</a:t>
            </a:r>
            <a:r>
              <a:rPr dirty="0"/>
              <a:t> = 0.48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1070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retenu</a:t>
            </a:r>
            <a:r>
              <a:rPr dirty="0"/>
              <a:t> pour la </a:t>
            </a:r>
            <a:r>
              <a:rPr dirty="0" err="1"/>
              <a:t>prédiction</a:t>
            </a:r>
            <a:r>
              <a:rPr dirty="0"/>
              <a:t> des </a:t>
            </a:r>
            <a:r>
              <a:rPr dirty="0" err="1"/>
              <a:t>émissions</a:t>
            </a:r>
            <a:r>
              <a:rPr dirty="0"/>
              <a:t> de CO₂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51543"/>
          </a:xfrm>
        </p:spPr>
        <p:txBody>
          <a:bodyPr>
            <a:normAutofit fontScale="90000"/>
          </a:bodyPr>
          <a:lstStyle/>
          <a:p>
            <a:r>
              <a:rPr dirty="0" err="1"/>
              <a:t>CatBoost</a:t>
            </a:r>
            <a:r>
              <a:rPr dirty="0"/>
              <a:t> : </a:t>
            </a:r>
            <a:r>
              <a:rPr dirty="0" err="1"/>
              <a:t>Interprétation</a:t>
            </a:r>
            <a:r>
              <a:rPr dirty="0"/>
              <a:t>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331"/>
            <a:ext cx="9144000" cy="5403669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✔️ Feature Importance :</a:t>
            </a:r>
          </a:p>
          <a:p>
            <a:r>
              <a:rPr dirty="0"/>
              <a:t>   - Variables </a:t>
            </a:r>
            <a:r>
              <a:rPr dirty="0" err="1"/>
              <a:t>dominantes</a:t>
            </a:r>
            <a:r>
              <a:rPr dirty="0"/>
              <a:t> = </a:t>
            </a:r>
            <a:r>
              <a:rPr dirty="0" err="1"/>
              <a:t>Age_Size_Interaction</a:t>
            </a:r>
            <a:r>
              <a:rPr dirty="0"/>
              <a:t>, </a:t>
            </a:r>
            <a:r>
              <a:rPr dirty="0" err="1"/>
              <a:t>BuildingDensity</a:t>
            </a:r>
            <a:r>
              <a:rPr dirty="0"/>
              <a:t>, </a:t>
            </a:r>
            <a:r>
              <a:rPr dirty="0" err="1"/>
              <a:t>PrimaryPropertyType</a:t>
            </a:r>
            <a:r>
              <a:rPr dirty="0"/>
              <a:t>, </a:t>
            </a:r>
            <a:r>
              <a:rPr dirty="0" err="1"/>
              <a:t>BuildingTypeGroup</a:t>
            </a:r>
            <a:r>
              <a:rPr dirty="0"/>
              <a:t>…</a:t>
            </a:r>
          </a:p>
          <a:p>
            <a:r>
              <a:rPr dirty="0"/>
              <a:t>✔️ SHAP summary plot :</a:t>
            </a:r>
          </a:p>
          <a:p>
            <a:r>
              <a:rPr dirty="0"/>
              <a:t>   - Impact fort de </a:t>
            </a:r>
            <a:r>
              <a:rPr dirty="0" err="1"/>
              <a:t>BuildingDensity</a:t>
            </a:r>
            <a:r>
              <a:rPr dirty="0"/>
              <a:t> et </a:t>
            </a:r>
            <a:r>
              <a:rPr dirty="0" err="1"/>
              <a:t>Age_Size_Interaction</a:t>
            </a:r>
            <a:r>
              <a:rPr dirty="0"/>
              <a:t> sur les </a:t>
            </a:r>
            <a:r>
              <a:rPr dirty="0" err="1"/>
              <a:t>prédictions</a:t>
            </a:r>
            <a:r>
              <a:rPr dirty="0"/>
              <a:t> de CO₂</a:t>
            </a:r>
          </a:p>
          <a:p>
            <a:r>
              <a:rPr dirty="0"/>
              <a:t>   - Influence </a:t>
            </a:r>
            <a:r>
              <a:rPr dirty="0" err="1"/>
              <a:t>claire</a:t>
            </a:r>
            <a:r>
              <a:rPr dirty="0"/>
              <a:t> des types et usages </a:t>
            </a:r>
            <a:r>
              <a:rPr dirty="0" err="1"/>
              <a:t>principaux</a:t>
            </a:r>
            <a:r>
              <a:rPr dirty="0"/>
              <a:t> de </a:t>
            </a:r>
            <a:r>
              <a:rPr dirty="0" err="1"/>
              <a:t>bâtiments</a:t>
            </a:r>
            <a:endParaRPr dirty="0"/>
          </a:p>
          <a:p>
            <a:r>
              <a:rPr dirty="0"/>
              <a:t>✔️ Insights métier :</a:t>
            </a:r>
          </a:p>
          <a:p>
            <a:r>
              <a:rPr dirty="0"/>
              <a:t>   - </a:t>
            </a:r>
            <a:r>
              <a:rPr dirty="0" err="1"/>
              <a:t>Bâtiments</a:t>
            </a:r>
            <a:r>
              <a:rPr dirty="0"/>
              <a:t> </a:t>
            </a:r>
            <a:r>
              <a:rPr dirty="0" err="1"/>
              <a:t>anciens</a:t>
            </a:r>
            <a:r>
              <a:rPr dirty="0"/>
              <a:t>, </a:t>
            </a:r>
            <a:r>
              <a:rPr dirty="0" err="1"/>
              <a:t>denses</a:t>
            </a:r>
            <a:r>
              <a:rPr dirty="0"/>
              <a:t> et multi-usages → fortes </a:t>
            </a:r>
            <a:r>
              <a:rPr dirty="0" err="1"/>
              <a:t>émissions</a:t>
            </a:r>
            <a:r>
              <a:rPr dirty="0"/>
              <a:t> de CO₂</a:t>
            </a:r>
          </a:p>
          <a:p>
            <a:r>
              <a:rPr dirty="0"/>
              <a:t>   - </a:t>
            </a:r>
            <a:r>
              <a:rPr dirty="0" err="1"/>
              <a:t>Secteurs</a:t>
            </a:r>
            <a:r>
              <a:rPr dirty="0"/>
              <a:t> </a:t>
            </a:r>
            <a:r>
              <a:rPr dirty="0" err="1"/>
              <a:t>hospitaliers</a:t>
            </a:r>
            <a:r>
              <a:rPr dirty="0"/>
              <a:t>, </a:t>
            </a:r>
            <a:r>
              <a:rPr dirty="0" err="1"/>
              <a:t>industriels</a:t>
            </a:r>
            <a:r>
              <a:rPr dirty="0"/>
              <a:t> et </a:t>
            </a:r>
            <a:r>
              <a:rPr dirty="0" err="1"/>
              <a:t>commerciaux</a:t>
            </a:r>
            <a:r>
              <a:rPr dirty="0"/>
              <a:t> </a:t>
            </a:r>
            <a:r>
              <a:rPr dirty="0" err="1"/>
              <a:t>dominent</a:t>
            </a:r>
            <a:r>
              <a:rPr dirty="0"/>
              <a:t> les </a:t>
            </a:r>
            <a:r>
              <a:rPr dirty="0" err="1"/>
              <a:t>émissions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82005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/>
              <a:t>Importance des variables et explications SHAP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5D4A-2487-7164-08F3-A1D88E71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8791"/>
          </a:xfrm>
        </p:spPr>
        <p:txBody>
          <a:bodyPr>
            <a:normAutofit fontScale="90000"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843F-5616-CDAE-657D-6C3045A1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1829"/>
            <a:ext cx="9144000" cy="6016171"/>
          </a:xfrm>
        </p:spPr>
        <p:txBody>
          <a:bodyPr>
            <a:normAutofit fontScale="92500" lnSpcReduction="10000"/>
          </a:bodyPr>
          <a:lstStyle/>
          <a:p>
            <a:r>
              <a:rPr lang="fr-FR" b="0" i="0" dirty="0">
                <a:effectLst/>
                <a:latin typeface="system-ui"/>
              </a:rPr>
              <a:t>Pour les bâtiments « typiques »</a:t>
            </a:r>
          </a:p>
          <a:p>
            <a:pPr marL="0" indent="0" algn="l">
              <a:buNone/>
            </a:pPr>
            <a:r>
              <a:rPr lang="fr-FR" b="0" i="0" dirty="0">
                <a:effectLst/>
                <a:latin typeface="system-ui"/>
              </a:rPr>
              <a:t>Le modèle prédit très bien : </a:t>
            </a:r>
            <a:r>
              <a:rPr lang="fr-FR" b="0" i="0" dirty="0" err="1">
                <a:effectLst/>
                <a:latin typeface="system-ui"/>
              </a:rPr>
              <a:t>MedAE</a:t>
            </a:r>
            <a:r>
              <a:rPr lang="fr-FR" b="0" i="0" dirty="0">
                <a:effectLst/>
                <a:latin typeface="system-ui"/>
              </a:rPr>
              <a:t> faible (~28–32 </a:t>
            </a:r>
            <a:r>
              <a:rPr lang="fr-FR" b="0" i="0" dirty="0" err="1">
                <a:effectLst/>
                <a:latin typeface="system-ui"/>
              </a:rPr>
              <a:t>kBtu</a:t>
            </a:r>
            <a:r>
              <a:rPr lang="fr-FR" b="0" i="0" dirty="0">
                <a:effectLst/>
                <a:latin typeface="system-ui"/>
              </a:rPr>
              <a:t>), R² élevé. → Il est pertinent pour les cas usuels de gestion énergétique.</a:t>
            </a:r>
          </a:p>
          <a:p>
            <a:pPr marL="0" indent="0" algn="l">
              <a:buNone/>
            </a:pPr>
            <a:endParaRPr lang="fr-FR" b="0" i="0" dirty="0">
              <a:effectLst/>
              <a:latin typeface="system-ui"/>
            </a:endParaRPr>
          </a:p>
          <a:p>
            <a:r>
              <a:rPr lang="fr-FR" b="0" i="0" dirty="0">
                <a:effectLst/>
                <a:latin typeface="system-ui"/>
              </a:rPr>
              <a:t>Pour les extrêmes</a:t>
            </a:r>
          </a:p>
          <a:p>
            <a:pPr marL="0" indent="0" algn="l">
              <a:buNone/>
            </a:pPr>
            <a:r>
              <a:rPr lang="fr-FR" b="0" i="0" dirty="0">
                <a:effectLst/>
                <a:latin typeface="system-ui"/>
              </a:rPr>
              <a:t>Quelques gros consommateurs ou profils atypiques génèrent encore de grandes erreurs (RMSE élevé, MAE bien &gt; </a:t>
            </a:r>
            <a:r>
              <a:rPr lang="fr-FR" b="0" i="0" dirty="0" err="1">
                <a:effectLst/>
                <a:latin typeface="system-ui"/>
              </a:rPr>
              <a:t>MedAE</a:t>
            </a:r>
            <a:r>
              <a:rPr lang="fr-FR" b="0" i="0" dirty="0">
                <a:effectLst/>
                <a:latin typeface="system-ui"/>
              </a:rPr>
              <a:t>). Une approche complémentaire (</a:t>
            </a:r>
            <a:r>
              <a:rPr lang="fr-FR" b="0" i="0" dirty="0" err="1">
                <a:effectLst/>
                <a:latin typeface="system-ui"/>
              </a:rPr>
              <a:t>robust</a:t>
            </a:r>
            <a:r>
              <a:rPr lang="fr-FR" b="0" i="0" dirty="0">
                <a:effectLst/>
                <a:latin typeface="system-ui"/>
              </a:rPr>
              <a:t> </a:t>
            </a:r>
            <a:r>
              <a:rPr lang="fr-FR" b="0" i="0" dirty="0" err="1">
                <a:effectLst/>
                <a:latin typeface="system-ui"/>
              </a:rPr>
              <a:t>loss</a:t>
            </a:r>
            <a:r>
              <a:rPr lang="fr-FR" b="0" i="0" dirty="0">
                <a:effectLst/>
                <a:latin typeface="system-ui"/>
              </a:rPr>
              <a:t> ou modèles spécialisés) pourrait renforcer la précision.</a:t>
            </a:r>
            <a:br>
              <a:rPr lang="fr-FR" b="0" i="0" dirty="0">
                <a:effectLst/>
                <a:latin typeface="system-ui"/>
              </a:rPr>
            </a:br>
            <a:r>
              <a:rPr lang="fr-FR" b="0" i="0" dirty="0">
                <a:effectLst/>
                <a:latin typeface="system-ui"/>
              </a:rPr>
              <a:t>👉 Les décisions métier sur ces cas devront être prudentes.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8259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Résultats</a:t>
            </a:r>
            <a:r>
              <a:rPr dirty="0"/>
              <a:t> – </a:t>
            </a:r>
            <a:r>
              <a:rPr lang="fr-FR" dirty="0"/>
              <a:t>Performances</a:t>
            </a:r>
            <a:r>
              <a:rPr dirty="0"/>
              <a:t> des </a:t>
            </a:r>
            <a:r>
              <a:rPr dirty="0" err="1"/>
              <a:t>modèles</a:t>
            </a:r>
            <a:r>
              <a:rPr lang="fr-FR" dirty="0"/>
              <a:t> Energie ( jeu de test )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07427"/>
              </p:ext>
            </p:extLst>
          </p:nvPr>
        </p:nvGraphicFramePr>
        <p:xfrm>
          <a:off x="0" y="1186542"/>
          <a:ext cx="9144000" cy="6914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82162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1658981"/>
                    </a:ext>
                  </a:extLst>
                </a:gridCol>
              </a:tblGrid>
              <a:tr h="613229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 err="1"/>
                        <a:t>Modèle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 err="1"/>
                        <a:t>RelMAE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 err="1"/>
                        <a:t>MEdMAE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/>
                        <a:t>RMSE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fr-FR" dirty="0"/>
                        <a:t>R²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/>
                        <a:t>Lasso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6.45e6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2.06e6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2.04e7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0.43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ElasticNet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6.30e6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2.14e6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2.00e7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/>
                        <a:t>Decision Tree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5.14e6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1.10e6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2.04e7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0.43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/>
                        <a:t>Bagging </a:t>
                      </a:r>
                      <a:r>
                        <a:rPr lang="fr-FR" dirty="0" err="1"/>
                        <a:t>Trees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4.86e6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1.00e6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2.16e7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0.37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Random</a:t>
                      </a:r>
                      <a:r>
                        <a:rPr lang="fr-FR" dirty="0"/>
                        <a:t> Forest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4.58e6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1.03e6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1.92e7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AdaBoost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4.74e6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9.85e5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2.01e7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771700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dirty="0" err="1"/>
                        <a:t>GradientBoost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4.05e6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1.01e6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1.56e7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75588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2800" b="1" dirty="0" err="1">
                          <a:solidFill>
                            <a:srgbClr val="00B050"/>
                          </a:solidFill>
                        </a:rPr>
                        <a:t>XGBoost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3.75e6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0.40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1.02e6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9.62e6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b="1" dirty="0">
                          <a:solidFill>
                            <a:srgbClr val="00B050"/>
                          </a:solidFill>
                        </a:rPr>
                        <a:t>0.87</a:t>
                      </a:r>
                      <a:endParaRPr sz="2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50204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4.76e6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0.51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1.13e6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1.97e7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6699"/>
                  </a:ext>
                </a:extLst>
              </a:tr>
              <a:tr h="630162">
                <a:tc>
                  <a:txBody>
                    <a:bodyPr/>
                    <a:lstStyle/>
                    <a:p>
                      <a:r>
                        <a:rPr lang="fr-F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3.93e6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0.42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9.60e5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1.53e7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0.68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67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292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00A9A2-9377-034A-E9BB-8F6709B1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79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F83817-4872-AB1C-13C0-089BA560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13" y="0"/>
            <a:ext cx="5775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78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XGBoost</a:t>
            </a:r>
            <a:r>
              <a:rPr dirty="0"/>
              <a:t> : Performances &amp; </a:t>
            </a:r>
            <a:r>
              <a:rPr dirty="0" err="1"/>
              <a:t>Hyperparamètres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52302"/>
            <a:ext cx="9143999" cy="5305698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✔️ Meilleur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retenu</a:t>
            </a:r>
            <a:r>
              <a:rPr dirty="0"/>
              <a:t> : </a:t>
            </a:r>
            <a:r>
              <a:rPr dirty="0" err="1"/>
              <a:t>XGBoost</a:t>
            </a:r>
            <a:r>
              <a:rPr dirty="0"/>
              <a:t> (gradient boosting </a:t>
            </a:r>
            <a:r>
              <a:rPr dirty="0" err="1"/>
              <a:t>d’arbres</a:t>
            </a:r>
            <a:r>
              <a:rPr dirty="0"/>
              <a:t>)</a:t>
            </a:r>
          </a:p>
          <a:p>
            <a:r>
              <a:rPr dirty="0"/>
              <a:t>✔️ </a:t>
            </a:r>
            <a:r>
              <a:rPr dirty="0" err="1"/>
              <a:t>Hyperparamètres</a:t>
            </a:r>
            <a:r>
              <a:rPr dirty="0"/>
              <a:t> </a:t>
            </a:r>
            <a:r>
              <a:rPr dirty="0" err="1"/>
              <a:t>optimisés</a:t>
            </a:r>
            <a:r>
              <a:rPr dirty="0"/>
              <a:t> (</a:t>
            </a:r>
            <a:r>
              <a:rPr dirty="0" err="1"/>
              <a:t>Optuna</a:t>
            </a:r>
            <a:r>
              <a:rPr dirty="0"/>
              <a:t>)** :</a:t>
            </a:r>
          </a:p>
          <a:p>
            <a:r>
              <a:rPr dirty="0"/>
              <a:t>   - </a:t>
            </a:r>
            <a:r>
              <a:rPr dirty="0" err="1"/>
              <a:t>colsample_bytree</a:t>
            </a:r>
            <a:r>
              <a:rPr dirty="0"/>
              <a:t> = 0.52</a:t>
            </a:r>
          </a:p>
          <a:p>
            <a:r>
              <a:rPr dirty="0"/>
              <a:t>   - </a:t>
            </a:r>
            <a:r>
              <a:rPr dirty="0" err="1"/>
              <a:t>learning_rate</a:t>
            </a:r>
            <a:r>
              <a:rPr dirty="0"/>
              <a:t> = 0.108</a:t>
            </a:r>
          </a:p>
          <a:p>
            <a:r>
              <a:rPr dirty="0"/>
              <a:t>   - </a:t>
            </a:r>
            <a:r>
              <a:rPr dirty="0" err="1"/>
              <a:t>max_depth</a:t>
            </a:r>
            <a:r>
              <a:rPr dirty="0"/>
              <a:t> = 2</a:t>
            </a:r>
          </a:p>
          <a:p>
            <a:r>
              <a:rPr dirty="0"/>
              <a:t>   - </a:t>
            </a:r>
            <a:r>
              <a:rPr dirty="0" err="1"/>
              <a:t>min_child_weight</a:t>
            </a:r>
            <a:r>
              <a:rPr dirty="0"/>
              <a:t> = 2</a:t>
            </a:r>
          </a:p>
          <a:p>
            <a:r>
              <a:rPr dirty="0"/>
              <a:t>   - </a:t>
            </a:r>
            <a:r>
              <a:rPr dirty="0" err="1"/>
              <a:t>n_estimators</a:t>
            </a:r>
            <a:r>
              <a:rPr dirty="0"/>
              <a:t> = 3000</a:t>
            </a:r>
          </a:p>
          <a:p>
            <a:r>
              <a:rPr dirty="0"/>
              <a:t>   - </a:t>
            </a:r>
            <a:r>
              <a:rPr dirty="0" err="1"/>
              <a:t>reg_alpha</a:t>
            </a:r>
            <a:r>
              <a:rPr dirty="0"/>
              <a:t> ≈ 2e-08, </a:t>
            </a:r>
            <a:r>
              <a:rPr dirty="0" err="1"/>
              <a:t>reg_lambda</a:t>
            </a:r>
            <a:r>
              <a:rPr dirty="0"/>
              <a:t> = 0.00136</a:t>
            </a:r>
          </a:p>
          <a:p>
            <a:r>
              <a:rPr dirty="0"/>
              <a:t>   - subsample = 0.93</a:t>
            </a:r>
          </a:p>
          <a:p>
            <a:r>
              <a:rPr dirty="0"/>
              <a:t>✔️ </a:t>
            </a:r>
            <a:r>
              <a:rPr b="1" dirty="0"/>
              <a:t>Performances test </a:t>
            </a:r>
            <a:r>
              <a:rPr dirty="0"/>
              <a:t>:</a:t>
            </a:r>
          </a:p>
          <a:p>
            <a:r>
              <a:rPr dirty="0"/>
              <a:t>   - MAE = 3.75 M</a:t>
            </a:r>
          </a:p>
          <a:p>
            <a:r>
              <a:rPr dirty="0"/>
              <a:t>   - RMSE = 9.63 M</a:t>
            </a:r>
          </a:p>
          <a:p>
            <a:r>
              <a:rPr dirty="0"/>
              <a:t>   - R² = 0.875</a:t>
            </a:r>
          </a:p>
          <a:p>
            <a:r>
              <a:rPr dirty="0"/>
              <a:t>   - </a:t>
            </a:r>
            <a:r>
              <a:rPr dirty="0" err="1"/>
              <a:t>MedAE</a:t>
            </a:r>
            <a:r>
              <a:rPr dirty="0"/>
              <a:t> = 1.02 M</a:t>
            </a:r>
          </a:p>
          <a:p>
            <a:r>
              <a:rPr dirty="0"/>
              <a:t>   - </a:t>
            </a:r>
            <a:r>
              <a:rPr dirty="0" err="1"/>
              <a:t>RelMAE</a:t>
            </a:r>
            <a:r>
              <a:rPr dirty="0"/>
              <a:t> = 0.405</a:t>
            </a:r>
          </a:p>
          <a:p>
            <a:r>
              <a:rPr dirty="0"/>
              <a:t>🎯 Message : </a:t>
            </a:r>
            <a:r>
              <a:rPr dirty="0" err="1"/>
              <a:t>modèle</a:t>
            </a:r>
            <a:r>
              <a:rPr dirty="0"/>
              <a:t> performant, forte </a:t>
            </a:r>
            <a:r>
              <a:rPr dirty="0" err="1"/>
              <a:t>capacité</a:t>
            </a:r>
            <a:r>
              <a:rPr dirty="0"/>
              <a:t> explicative et </a:t>
            </a:r>
            <a:r>
              <a:rPr dirty="0" err="1"/>
              <a:t>robuste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477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retenu</a:t>
            </a:r>
            <a:r>
              <a:rPr dirty="0"/>
              <a:t> pour la </a:t>
            </a:r>
            <a:r>
              <a:rPr dirty="0" err="1"/>
              <a:t>prédiction</a:t>
            </a:r>
            <a:r>
              <a:rPr dirty="0"/>
              <a:t> de la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énergétique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95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📊 </a:t>
            </a:r>
            <a:r>
              <a:rPr dirty="0" err="1"/>
              <a:t>Interprétation</a:t>
            </a:r>
            <a:r>
              <a:rPr dirty="0"/>
              <a:t> des </a:t>
            </a:r>
            <a:r>
              <a:rPr dirty="0" err="1"/>
              <a:t>résultats</a:t>
            </a:r>
            <a:r>
              <a:rPr dirty="0"/>
              <a:t> – </a:t>
            </a:r>
            <a:r>
              <a:rPr dirty="0" err="1"/>
              <a:t>XGBoost</a:t>
            </a:r>
            <a:r>
              <a:rPr dirty="0"/>
              <a:t> (Test)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r>
              <a:rPr dirty="0"/>
              <a:t>✔️ MAE (Test) ≈ 3.75 M </a:t>
            </a:r>
            <a:r>
              <a:rPr dirty="0" err="1"/>
              <a:t>kBtu</a:t>
            </a:r>
            <a:r>
              <a:rPr dirty="0"/>
              <a:t> : </a:t>
            </a:r>
            <a:r>
              <a:rPr dirty="0" err="1"/>
              <a:t>écart</a:t>
            </a:r>
            <a:r>
              <a:rPr dirty="0"/>
              <a:t> </a:t>
            </a:r>
            <a:r>
              <a:rPr dirty="0" err="1"/>
              <a:t>absolu</a:t>
            </a:r>
            <a:r>
              <a:rPr dirty="0"/>
              <a:t> </a:t>
            </a:r>
            <a:r>
              <a:rPr dirty="0" err="1"/>
              <a:t>moyen</a:t>
            </a:r>
            <a:r>
              <a:rPr dirty="0"/>
              <a:t> entre </a:t>
            </a:r>
            <a:r>
              <a:rPr dirty="0" err="1"/>
              <a:t>prédiction</a:t>
            </a:r>
            <a:r>
              <a:rPr dirty="0"/>
              <a:t> et </a:t>
            </a:r>
            <a:r>
              <a:rPr dirty="0" err="1"/>
              <a:t>réalité</a:t>
            </a:r>
            <a:r>
              <a:rPr dirty="0"/>
              <a:t>.</a:t>
            </a:r>
          </a:p>
          <a:p>
            <a:r>
              <a:rPr dirty="0"/>
              <a:t>✔️ </a:t>
            </a:r>
            <a:r>
              <a:rPr dirty="0" err="1"/>
              <a:t>MedAE</a:t>
            </a:r>
            <a:r>
              <a:rPr dirty="0"/>
              <a:t> (Test) ≈ 1.02 M </a:t>
            </a:r>
            <a:r>
              <a:rPr dirty="0" err="1"/>
              <a:t>kBtu</a:t>
            </a:r>
            <a:r>
              <a:rPr dirty="0"/>
              <a:t> : pour la </a:t>
            </a:r>
            <a:r>
              <a:rPr dirty="0" err="1"/>
              <a:t>moitié</a:t>
            </a:r>
            <a:r>
              <a:rPr dirty="0"/>
              <a:t> des </a:t>
            </a:r>
            <a:r>
              <a:rPr dirty="0" err="1"/>
              <a:t>bâtiments</a:t>
            </a:r>
            <a:r>
              <a:rPr dirty="0"/>
              <a:t>, </a:t>
            </a:r>
            <a:r>
              <a:rPr dirty="0" err="1"/>
              <a:t>l’erreur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sous 1.0 M </a:t>
            </a:r>
            <a:r>
              <a:rPr dirty="0" err="1"/>
              <a:t>kBtu</a:t>
            </a:r>
            <a:r>
              <a:rPr dirty="0"/>
              <a:t>.</a:t>
            </a:r>
          </a:p>
          <a:p>
            <a:r>
              <a:rPr dirty="0"/>
              <a:t>✔️ RMSE (Test) ≈ 9.63 M </a:t>
            </a:r>
            <a:r>
              <a:rPr dirty="0" err="1"/>
              <a:t>kBtu</a:t>
            </a:r>
            <a:r>
              <a:rPr dirty="0"/>
              <a:t> : </a:t>
            </a:r>
            <a:r>
              <a:rPr dirty="0" err="1"/>
              <a:t>confirme</a:t>
            </a:r>
            <a:r>
              <a:rPr dirty="0"/>
              <a:t> </a:t>
            </a:r>
            <a:r>
              <a:rPr dirty="0" err="1"/>
              <a:t>l’existence</a:t>
            </a:r>
            <a:r>
              <a:rPr dirty="0"/>
              <a:t> de </a:t>
            </a:r>
            <a:r>
              <a:rPr dirty="0" err="1"/>
              <a:t>cas</a:t>
            </a:r>
            <a:r>
              <a:rPr dirty="0"/>
              <a:t> </a:t>
            </a:r>
            <a:r>
              <a:rPr dirty="0" err="1"/>
              <a:t>extrêmes</a:t>
            </a:r>
            <a:r>
              <a:rPr dirty="0"/>
              <a:t> </a:t>
            </a:r>
            <a:r>
              <a:rPr dirty="0" err="1"/>
              <a:t>énergivores</a:t>
            </a:r>
            <a:r>
              <a:rPr dirty="0"/>
              <a:t>.</a:t>
            </a:r>
          </a:p>
          <a:p>
            <a:r>
              <a:rPr dirty="0"/>
              <a:t>✔️ R² (Test) = 0.875 :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explique</a:t>
            </a:r>
            <a:r>
              <a:rPr dirty="0"/>
              <a:t> 88 % de la variance, </a:t>
            </a:r>
            <a:r>
              <a:rPr dirty="0" err="1"/>
              <a:t>excellente</a:t>
            </a:r>
            <a:r>
              <a:rPr dirty="0"/>
              <a:t> </a:t>
            </a:r>
            <a:r>
              <a:rPr dirty="0" err="1"/>
              <a:t>capacité</a:t>
            </a:r>
            <a:r>
              <a:rPr dirty="0"/>
              <a:t> explicative.</a:t>
            </a:r>
          </a:p>
          <a:p>
            <a:r>
              <a:rPr dirty="0"/>
              <a:t>✔️ Relative MAE (Test) = 0.405 : </a:t>
            </a: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≈ 40 % de la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0992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Analyse des performances du modèle sur le jeu de test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54276"/>
          </a:xfrm>
        </p:spPr>
        <p:txBody>
          <a:bodyPr>
            <a:normAutofit fontScale="90000"/>
          </a:bodyPr>
          <a:lstStyle/>
          <a:p>
            <a:r>
              <a:rPr dirty="0" err="1"/>
              <a:t>XGBoost</a:t>
            </a:r>
            <a:r>
              <a:rPr dirty="0"/>
              <a:t> :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92608"/>
            <a:ext cx="9144000" cy="576539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✔️ Top 20 Features (Feature Importance) :</a:t>
            </a:r>
          </a:p>
          <a:p>
            <a:r>
              <a:rPr dirty="0"/>
              <a:t>   - Hospital, Laboratory, Industrial, Supermarket, Worship Facility, </a:t>
            </a:r>
            <a:r>
              <a:rPr dirty="0" err="1"/>
              <a:t>BuildingDensity</a:t>
            </a:r>
            <a:r>
              <a:rPr dirty="0"/>
              <a:t>…</a:t>
            </a:r>
          </a:p>
          <a:p>
            <a:r>
              <a:rPr dirty="0"/>
              <a:t>✔️ SHAP summary plot :</a:t>
            </a:r>
          </a:p>
          <a:p>
            <a:r>
              <a:rPr dirty="0"/>
              <a:t>   - Impacts </a:t>
            </a:r>
            <a:r>
              <a:rPr dirty="0" err="1"/>
              <a:t>clés</a:t>
            </a:r>
            <a:r>
              <a:rPr dirty="0"/>
              <a:t> : </a:t>
            </a:r>
            <a:r>
              <a:rPr dirty="0" err="1"/>
              <a:t>BuildingDensity</a:t>
            </a:r>
            <a:r>
              <a:rPr dirty="0"/>
              <a:t>, </a:t>
            </a:r>
            <a:r>
              <a:rPr dirty="0" err="1"/>
              <a:t>Age_Size_Interaction</a:t>
            </a:r>
            <a:r>
              <a:rPr dirty="0"/>
              <a:t>, </a:t>
            </a:r>
            <a:r>
              <a:rPr dirty="0" err="1"/>
              <a:t>LargestUseRatio</a:t>
            </a:r>
            <a:r>
              <a:rPr dirty="0"/>
              <a:t>, </a:t>
            </a:r>
            <a:r>
              <a:rPr dirty="0" err="1"/>
              <a:t>AverageFloorArea</a:t>
            </a:r>
            <a:endParaRPr dirty="0"/>
          </a:p>
          <a:p>
            <a:r>
              <a:rPr dirty="0"/>
              <a:t>   - </a:t>
            </a:r>
            <a:r>
              <a:rPr dirty="0" err="1"/>
              <a:t>Indique</a:t>
            </a:r>
            <a:r>
              <a:rPr dirty="0"/>
              <a:t> </a:t>
            </a:r>
            <a:r>
              <a:rPr dirty="0" err="1"/>
              <a:t>l’effet</a:t>
            </a:r>
            <a:r>
              <a:rPr dirty="0"/>
              <a:t> </a:t>
            </a:r>
            <a:r>
              <a:rPr dirty="0" err="1"/>
              <a:t>positif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négatif</a:t>
            </a:r>
            <a:r>
              <a:rPr dirty="0"/>
              <a:t> des variables sur la </a:t>
            </a:r>
            <a:r>
              <a:rPr dirty="0" err="1"/>
              <a:t>consommation</a:t>
            </a:r>
            <a:r>
              <a:rPr dirty="0"/>
              <a:t> </a:t>
            </a:r>
            <a:r>
              <a:rPr dirty="0" err="1"/>
              <a:t>prédite</a:t>
            </a:r>
            <a:endParaRPr dirty="0"/>
          </a:p>
          <a:p>
            <a:r>
              <a:rPr dirty="0"/>
              <a:t>✔️ Insights métier :</a:t>
            </a:r>
          </a:p>
          <a:p>
            <a:r>
              <a:rPr dirty="0"/>
              <a:t>   - </a:t>
            </a:r>
            <a:r>
              <a:rPr dirty="0" err="1"/>
              <a:t>Bâtiments</a:t>
            </a:r>
            <a:r>
              <a:rPr dirty="0"/>
              <a:t> de </a:t>
            </a:r>
            <a:r>
              <a:rPr dirty="0" err="1"/>
              <a:t>santé</a:t>
            </a:r>
            <a:r>
              <a:rPr dirty="0"/>
              <a:t> (</a:t>
            </a:r>
            <a:r>
              <a:rPr dirty="0" err="1"/>
              <a:t>hôpitaux</a:t>
            </a:r>
            <a:r>
              <a:rPr dirty="0"/>
              <a:t>, </a:t>
            </a:r>
            <a:r>
              <a:rPr dirty="0" err="1"/>
              <a:t>labos</a:t>
            </a:r>
            <a:r>
              <a:rPr dirty="0"/>
              <a:t>) et </a:t>
            </a:r>
            <a:r>
              <a:rPr dirty="0" err="1"/>
              <a:t>supermarchés</a:t>
            </a:r>
            <a:r>
              <a:rPr dirty="0"/>
              <a:t> → les plus </a:t>
            </a:r>
            <a:r>
              <a:rPr dirty="0" err="1"/>
              <a:t>énergivores</a:t>
            </a:r>
            <a:endParaRPr dirty="0"/>
          </a:p>
          <a:p>
            <a:r>
              <a:rPr dirty="0"/>
              <a:t>   - La </a:t>
            </a:r>
            <a:r>
              <a:rPr dirty="0" err="1"/>
              <a:t>densité</a:t>
            </a:r>
            <a:r>
              <a:rPr dirty="0"/>
              <a:t> et </a:t>
            </a:r>
            <a:r>
              <a:rPr dirty="0" err="1"/>
              <a:t>l’âge</a:t>
            </a:r>
            <a:r>
              <a:rPr dirty="0"/>
              <a:t> des </a:t>
            </a:r>
            <a:r>
              <a:rPr dirty="0" err="1"/>
              <a:t>bâtiments</a:t>
            </a:r>
            <a:r>
              <a:rPr dirty="0"/>
              <a:t> </a:t>
            </a:r>
            <a:r>
              <a:rPr dirty="0" err="1"/>
              <a:t>amplifient</a:t>
            </a:r>
            <a:r>
              <a:rPr dirty="0"/>
              <a:t> la </a:t>
            </a:r>
            <a:r>
              <a:rPr dirty="0" err="1"/>
              <a:t>consommation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69056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rPr dirty="0"/>
              <a:t>Importance des variables et explications SHAP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5D4A-2487-7164-08F3-A1D88E71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8791"/>
          </a:xfrm>
        </p:spPr>
        <p:txBody>
          <a:bodyPr>
            <a:normAutofit fontScale="90000"/>
          </a:bodyPr>
          <a:lstStyle/>
          <a:p>
            <a:r>
              <a:rPr lang="fr-F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843F-5616-CDAE-657D-6C3045A1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1829"/>
            <a:ext cx="9144000" cy="6016171"/>
          </a:xfrm>
        </p:spPr>
        <p:txBody>
          <a:bodyPr>
            <a:normAutofit fontScale="92500" lnSpcReduction="10000"/>
          </a:bodyPr>
          <a:lstStyle/>
          <a:p>
            <a:r>
              <a:rPr lang="fr-FR" b="0" i="0" dirty="0">
                <a:effectLst/>
                <a:latin typeface="system-ui"/>
              </a:rPr>
              <a:t>Pour les bâtiments « typiques »</a:t>
            </a:r>
          </a:p>
          <a:p>
            <a:pPr marL="0" indent="0" algn="l">
              <a:buNone/>
            </a:pPr>
            <a:r>
              <a:rPr lang="fr-FR" b="0" i="0" dirty="0">
                <a:effectLst/>
                <a:latin typeface="system-ui"/>
              </a:rPr>
              <a:t>Le modèle est performant :</a:t>
            </a:r>
          </a:p>
          <a:p>
            <a:pPr marL="0" indent="0" algn="l">
              <a:buNone/>
            </a:pPr>
            <a:r>
              <a:rPr lang="fr-FR" b="0" i="0" dirty="0">
                <a:effectLst/>
                <a:latin typeface="system-ui"/>
              </a:rPr>
              <a:t>- </a:t>
            </a:r>
            <a:r>
              <a:rPr lang="fr-FR" b="0" i="0" dirty="0" err="1">
                <a:effectLst/>
                <a:latin typeface="system-ui"/>
              </a:rPr>
              <a:t>MedAE</a:t>
            </a:r>
            <a:r>
              <a:rPr lang="fr-FR" b="0" i="0" dirty="0">
                <a:effectLst/>
                <a:latin typeface="system-ui"/>
              </a:rPr>
              <a:t> faible (~1.0–1.2 M </a:t>
            </a:r>
            <a:r>
              <a:rPr lang="fr-FR" b="0" i="0" dirty="0" err="1">
                <a:effectLst/>
                <a:latin typeface="system-ui"/>
              </a:rPr>
              <a:t>kgCO</a:t>
            </a:r>
            <a:r>
              <a:rPr lang="fr-FR" b="0" i="0" dirty="0">
                <a:effectLst/>
                <a:latin typeface="system-ui"/>
              </a:rPr>
              <a:t>₂),</a:t>
            </a:r>
          </a:p>
          <a:p>
            <a:pPr algn="l">
              <a:buFontTx/>
              <a:buChar char="-"/>
            </a:pPr>
            <a:r>
              <a:rPr lang="fr-FR" b="0" i="0" dirty="0">
                <a:effectLst/>
                <a:latin typeface="system-ui"/>
              </a:rPr>
              <a:t>R² élevé (≥0.84 en test). </a:t>
            </a:r>
            <a:br>
              <a:rPr lang="fr-FR" b="0" i="0" dirty="0">
                <a:effectLst/>
                <a:latin typeface="system-ui"/>
              </a:rPr>
            </a:br>
            <a:r>
              <a:rPr lang="fr-FR" b="0" i="0" dirty="0">
                <a:effectLst/>
                <a:latin typeface="system-ui"/>
              </a:rPr>
              <a:t>👉 Il fournit des estimations fiables pour la majorité des cas usuels de suivi et de </a:t>
            </a:r>
            <a:r>
              <a:rPr lang="fr-FR" b="0" i="0" dirty="0" err="1">
                <a:effectLst/>
                <a:latin typeface="system-ui"/>
              </a:rPr>
              <a:t>reporting</a:t>
            </a:r>
            <a:r>
              <a:rPr lang="fr-FR" b="0" i="0" dirty="0">
                <a:effectLst/>
                <a:latin typeface="system-ui"/>
              </a:rPr>
              <a:t> carbone.</a:t>
            </a:r>
          </a:p>
          <a:p>
            <a:pPr algn="l">
              <a:buFontTx/>
              <a:buChar char="-"/>
            </a:pPr>
            <a:endParaRPr lang="fr-FR" b="0" i="0" dirty="0">
              <a:effectLst/>
              <a:latin typeface="system-ui"/>
            </a:endParaRPr>
          </a:p>
          <a:p>
            <a:r>
              <a:rPr lang="fr-FR" b="0" i="0" dirty="0">
                <a:effectLst/>
                <a:latin typeface="system-ui"/>
              </a:rPr>
              <a:t>Pour les extrêmes</a:t>
            </a:r>
          </a:p>
          <a:p>
            <a:pPr marL="0" indent="0" algn="l">
              <a:buNone/>
            </a:pPr>
            <a:r>
              <a:rPr lang="fr-FR" b="0" i="0" dirty="0">
                <a:effectLst/>
                <a:latin typeface="system-ui"/>
              </a:rPr>
              <a:t>Les très gros émetteurs génèrent encore de grandes erreurs (écarts très supérieurs à la moyenne). </a:t>
            </a:r>
            <a:br>
              <a:rPr lang="fr-FR" b="0" i="0" dirty="0">
                <a:effectLst/>
                <a:latin typeface="system-ui"/>
              </a:rPr>
            </a:br>
            <a:r>
              <a:rPr lang="fr-FR" b="0" i="0" dirty="0">
                <a:effectLst/>
                <a:latin typeface="system-ui"/>
              </a:rPr>
              <a:t>👉 Les décisions métier sur ces cas devront être prudentes.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623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2597</Words>
  <Application>Microsoft Office PowerPoint</Application>
  <PresentationFormat>On-screen Show (4:3)</PresentationFormat>
  <Paragraphs>414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system-ui</vt:lpstr>
      <vt:lpstr>Office Theme</vt:lpstr>
      <vt:lpstr>Prédire CO₂ et Consommation Énergétique des Bâtiments Non Résidentiels – Seattle</vt:lpstr>
      <vt:lpstr>Contexte &amp; Objectifs</vt:lpstr>
      <vt:lpstr>Jeu de données  (2016 Building Energy Benchmarking)</vt:lpstr>
      <vt:lpstr>PowerPoint Presentation</vt:lpstr>
      <vt:lpstr>Préparation &amp; Nettoyage</vt:lpstr>
      <vt:lpstr>Diagramme pipeline de nettoyage</vt:lpstr>
      <vt:lpstr>Analyse exploratoire  – enseignements clés – Co²</vt:lpstr>
      <vt:lpstr>PowerPoint Presentation</vt:lpstr>
      <vt:lpstr>PowerPoint Presentation</vt:lpstr>
      <vt:lpstr>Analyse exploratoire  – enseignements clés – Energy</vt:lpstr>
      <vt:lpstr>PowerPoint Presentation</vt:lpstr>
      <vt:lpstr>PowerPoint Presentation</vt:lpstr>
      <vt:lpstr>PowerPoint Presentation</vt:lpstr>
      <vt:lpstr>Feature Engineering – Energy</vt:lpstr>
      <vt:lpstr>Feature Engineering – Co²</vt:lpstr>
      <vt:lpstr>Préparation des variables pour la modélisation</vt:lpstr>
      <vt:lpstr>Hypothèses de Modélisation</vt:lpstr>
      <vt:lpstr>Approche de modélisation supervisée</vt:lpstr>
      <vt:lpstr>Validation croisée</vt:lpstr>
      <vt:lpstr>Comparaison des modèles</vt:lpstr>
      <vt:lpstr>Métriques de performance</vt:lpstr>
      <vt:lpstr>Optimisation des modèles</vt:lpstr>
      <vt:lpstr>Résultats – Performances des modèles Co² ( jeu de test )</vt:lpstr>
      <vt:lpstr>PowerPoint Presentation</vt:lpstr>
      <vt:lpstr>PowerPoint Presentation</vt:lpstr>
      <vt:lpstr>CatBoost : Performances &amp; Hyperparamètres</vt:lpstr>
      <vt:lpstr>CatBoost : Interprétation &amp; Insights</vt:lpstr>
      <vt:lpstr>Conclusion</vt:lpstr>
      <vt:lpstr>Résultats – Performances des modèles Energie ( jeu de test )</vt:lpstr>
      <vt:lpstr>PowerPoint Presentation</vt:lpstr>
      <vt:lpstr>PowerPoint Presentation</vt:lpstr>
      <vt:lpstr>XGBoost : Performances &amp; Hyperparamètres</vt:lpstr>
      <vt:lpstr>📊 Interprétation des résultats – XGBoost (Test)</vt:lpstr>
      <vt:lpstr>XGBoost :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Prédire CO₂ et Consommation Énergétique des Bâtiments Non Résidentiels – Seattle</dc:title>
  <dc:subject/>
  <dc:creator/>
  <cp:keywords/>
  <dc:description>generated using python-pptx</dc:description>
  <cp:lastModifiedBy>Rudy Desplan</cp:lastModifiedBy>
  <cp:revision>72</cp:revision>
  <dcterms:created xsi:type="dcterms:W3CDTF">2013-01-27T09:14:16Z</dcterms:created>
  <dcterms:modified xsi:type="dcterms:W3CDTF">2025-09-11T12:54:15Z</dcterms:modified>
  <cp:category/>
</cp:coreProperties>
</file>